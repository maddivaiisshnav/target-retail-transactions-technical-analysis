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walks through a real, working data pipeline built for a Target-style retail case study: Kafka for ingestion, PySpark for processing, Hive for serving analytics. Every number on these slides came from actually running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stops. We'll move from the business need, through each technology, to the actual results the pipeline produced — including one finding that did not go the way we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a one-time report. It's a continuous stream that has to be captured, made trustworthy, and turned into something a non-engineer can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mental model. Kafka carries, Spark thinks, Hive serves. Every file in the project maps onto one of these three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Kafka decouples writers from readers completely. That decoupling, plus the ability to replay history, is the entire reason it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terms cover everything in producer.py and consumer.py. Nothing else in Kafka's vocabulary matters for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do most of the work in Spark: laziness (Spark optimizes your whole plan before running anything) and shuffle (the network cost of grouping data that's spread across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genuinely common real-world bug class: type information gets lost as data crosses a serialization boundary. We fixed it twice — at the source and defensively downstream.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Hive's execution engine is dead — Spark replaced it. What survived is the metastore, the catalog concept, and that idea is everywhere in modern lakehouses.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staircase shape is deliberate — each layer does less raw volume and more business meaning than the one before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EDA isn't a formality — it's how we caught a real 4% undercount before it reached a business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Sao Paulo and Rio dominate revenue. Freight correlates most with item quantity, not price — heavier boxes cost more to ship, not fancier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the deck. A null result, checked three different ways and reported honestly, is a sign of good engineering — not a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would be a real ticket to an upstream system owner in a production setting, not something silently patched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this gap is worth more than the code itself. Every row here is a real technology swap a growing company makes as scale and compliance needs increase.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full tour. Everything shown here is reproducible by running run_pipeline.sh — nothing was faked or pre-baked.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1463040"/>
            <a:ext cx="5029200" cy="5029200"/>
          </a:xfrm>
          <a:prstGeom prst="ellipse">
            <a:avLst/>
          </a:prstGeom>
          <a:solidFill>
            <a:srgbClr val="1C7293">
              <a:alpha val="18000"/>
            </a:srgbClr>
          </a:solidFill>
          <a:ln/>
        </p:spPr>
      </p:sp>
      <p:sp>
        <p:nvSpPr>
          <p:cNvPr id="3" name="Shape 1"/>
          <p:cNvSpPr/>
          <p:nvPr/>
        </p:nvSpPr>
        <p:spPr>
          <a:xfrm>
            <a:off x="-1645920" y="4206240"/>
            <a:ext cx="4206240" cy="4206240"/>
          </a:xfrm>
          <a:prstGeom prst="ellipse">
            <a:avLst/>
          </a:prstGeom>
          <a:solidFill>
            <a:srgbClr val="065A82">
              <a:alpha val="22000"/>
            </a:srgbClr>
          </a:solidFill>
          <a:ln/>
        </p:spPr>
      </p:sp>
      <p:sp>
        <p:nvSpPr>
          <p:cNvPr id="4" name="Text 2"/>
          <p:cNvSpPr/>
          <p:nvPr/>
        </p:nvSpPr>
        <p:spPr>
          <a:xfrm>
            <a:off x="822960" y="1828800"/>
            <a:ext cx="7315200" cy="365760"/>
          </a:xfrm>
          <a:prstGeom prst="rect">
            <a:avLst/>
          </a:prstGeom>
          <a:noFill/>
          <a:ln/>
        </p:spPr>
        <p:txBody>
          <a:bodyPr wrap="square" rtlCol="0" anchor="ctr"/>
          <a:lstStyle/>
          <a:p>
            <a:pPr indent="0" marL="0">
              <a:buNone/>
            </a:pPr>
            <a:r>
              <a:rPr lang="en-US" sz="1300" b="1" spc="300" kern="0" dirty="0">
                <a:solidFill>
                  <a:srgbClr val="5FB1BF"/>
                </a:solidFill>
                <a:latin typeface="Calibri" pitchFamily="34" charset="0"/>
                <a:ea typeface="Calibri" pitchFamily="34" charset="-122"/>
                <a:cs typeface="Calibri" pitchFamily="34" charset="-120"/>
              </a:rPr>
              <a:t>DATA ENGINEERING CASE STUDY</a:t>
            </a:r>
            <a:endParaRPr lang="en-US" sz="1300" dirty="0"/>
          </a:p>
        </p:txBody>
      </p:sp>
      <p:sp>
        <p:nvSpPr>
          <p:cNvPr id="5" name="Text 3"/>
          <p:cNvSpPr/>
          <p:nvPr/>
        </p:nvSpPr>
        <p:spPr>
          <a:xfrm>
            <a:off x="822960" y="2240280"/>
            <a:ext cx="9875520" cy="1737360"/>
          </a:xfrm>
          <a:prstGeom prst="rect">
            <a:avLst/>
          </a:prstGeom>
          <a:noFill/>
          <a:ln/>
        </p:spPr>
        <p:txBody>
          <a:bodyPr wrap="square" rtlCol="0" anchor="ctr"/>
          <a:lstStyle/>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The Target Sales Data Pipeline,</a:t>
            </a:r>
            <a:endParaRPr lang="en-US" sz="4000" dirty="0"/>
          </a:p>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Explained End to End</a:t>
            </a:r>
            <a:endParaRPr lang="en-US" sz="4000" dirty="0"/>
          </a:p>
        </p:txBody>
      </p:sp>
      <p:sp>
        <p:nvSpPr>
          <p:cNvPr id="6" name="Text 4"/>
          <p:cNvSpPr/>
          <p:nvPr/>
        </p:nvSpPr>
        <p:spPr>
          <a:xfrm>
            <a:off x="822960" y="4069080"/>
            <a:ext cx="7315200" cy="457200"/>
          </a:xfrm>
          <a:prstGeom prst="rect">
            <a:avLst/>
          </a:prstGeom>
          <a:noFill/>
          <a:ln/>
        </p:spPr>
        <p:txBody>
          <a:bodyPr wrap="square" rtlCol="0" anchor="ctr"/>
          <a:lstStyle/>
          <a:p>
            <a:pPr indent="0" marL="0">
              <a:buNone/>
            </a:pPr>
            <a:r>
              <a:rPr lang="en-US" sz="1800" dirty="0">
                <a:solidFill>
                  <a:srgbClr val="C9D3E0"/>
                </a:solidFill>
                <a:latin typeface="Calibri" pitchFamily="34" charset="0"/>
                <a:ea typeface="Calibri" pitchFamily="34" charset="-122"/>
                <a:cs typeface="Calibri" pitchFamily="34" charset="-120"/>
              </a:rPr>
              <a:t>Kafka  →  PySpark  →  Hive</a:t>
            </a:r>
            <a:endParaRPr lang="en-US" sz="1800" dirty="0"/>
          </a:p>
        </p:txBody>
      </p:sp>
      <p:sp>
        <p:nvSpPr>
          <p:cNvPr id="7" name="Shape 5"/>
          <p:cNvSpPr/>
          <p:nvPr/>
        </p:nvSpPr>
        <p:spPr>
          <a:xfrm>
            <a:off x="822960" y="4892040"/>
            <a:ext cx="566928" cy="566928"/>
          </a:xfrm>
          <a:prstGeom prst="ellipse">
            <a:avLst/>
          </a:prstGeom>
          <a:solidFill>
            <a:srgbClr val="2E3A73"/>
          </a:solidFill>
          <a:ln/>
        </p:spPr>
      </p:sp>
      <p:pic>
        <p:nvPicPr>
          <p:cNvPr id="8" name="Image 0" descr="preencoded.png">    </p:cNvPr>
          <p:cNvPicPr>
            <a:picLocks noChangeAspect="1"/>
          </p:cNvPicPr>
          <p:nvPr/>
        </p:nvPicPr>
        <p:blipFill>
          <a:blip r:embed="rId1"/>
          <a:stretch>
            <a:fillRect/>
          </a:stretch>
        </p:blipFill>
        <p:spPr>
          <a:xfrm>
            <a:off x="970361" y="5039441"/>
            <a:ext cx="272125" cy="272125"/>
          </a:xfrm>
          <a:prstGeom prst="rect">
            <a:avLst/>
          </a:prstGeom>
        </p:spPr>
      </p:pic>
      <p:sp>
        <p:nvSpPr>
          <p:cNvPr id="9" name="Text 6"/>
          <p:cNvSpPr/>
          <p:nvPr/>
        </p:nvSpPr>
        <p:spPr>
          <a:xfrm>
            <a:off x="685800" y="5532120"/>
            <a:ext cx="2377440" cy="548640"/>
          </a:xfrm>
          <a:prstGeom prst="rect">
            <a:avLst/>
          </a:prstGeom>
          <a:noFill/>
          <a:ln/>
        </p:spPr>
        <p:txBody>
          <a:bodyPr wrap="square" rtlCol="0" anchor="ctr"/>
          <a:lstStyle/>
          <a:p>
            <a:pPr algn="l" indent="0" marL="0">
              <a:buNone/>
            </a:pPr>
            <a:r>
              <a:rPr lang="en-US" sz="1050" dirty="0">
                <a:solidFill>
                  <a:srgbClr val="AEB8CC"/>
                </a:solidFill>
                <a:latin typeface="Calibri" pitchFamily="34" charset="0"/>
                <a:ea typeface="Calibri" pitchFamily="34" charset="-122"/>
                <a:cs typeface="Calibri" pitchFamily="34" charset="-120"/>
              </a:rPr>
              <a:t>KAFKA — carries the data</a:t>
            </a:r>
            <a:endParaRPr lang="en-US" sz="1050" dirty="0"/>
          </a:p>
        </p:txBody>
      </p:sp>
      <p:sp>
        <p:nvSpPr>
          <p:cNvPr id="10" name="Shape 7"/>
          <p:cNvSpPr/>
          <p:nvPr/>
        </p:nvSpPr>
        <p:spPr>
          <a:xfrm>
            <a:off x="3611880" y="4892040"/>
            <a:ext cx="566928" cy="566928"/>
          </a:xfrm>
          <a:prstGeom prst="ellipse">
            <a:avLst/>
          </a:prstGeom>
          <a:solidFill>
            <a:srgbClr val="2E3A73"/>
          </a:solidFill>
          <a:ln/>
        </p:spPr>
      </p:sp>
      <p:pic>
        <p:nvPicPr>
          <p:cNvPr id="11" name="Image 1" descr="preencoded.png">    </p:cNvPr>
          <p:cNvPicPr>
            <a:picLocks noChangeAspect="1"/>
          </p:cNvPicPr>
          <p:nvPr/>
        </p:nvPicPr>
        <p:blipFill>
          <a:blip r:embed="rId2"/>
          <a:stretch>
            <a:fillRect/>
          </a:stretch>
        </p:blipFill>
        <p:spPr>
          <a:xfrm>
            <a:off x="3759281" y="5039441"/>
            <a:ext cx="272125" cy="272125"/>
          </a:xfrm>
          <a:prstGeom prst="rect">
            <a:avLst/>
          </a:prstGeom>
        </p:spPr>
      </p:pic>
      <p:sp>
        <p:nvSpPr>
          <p:cNvPr id="12" name="Text 8"/>
          <p:cNvSpPr/>
          <p:nvPr/>
        </p:nvSpPr>
        <p:spPr>
          <a:xfrm>
            <a:off x="3474720" y="5532120"/>
            <a:ext cx="2377440" cy="548640"/>
          </a:xfrm>
          <a:prstGeom prst="rect">
            <a:avLst/>
          </a:prstGeom>
          <a:noFill/>
          <a:ln/>
        </p:spPr>
        <p:txBody>
          <a:bodyPr wrap="square" rtlCol="0" anchor="ctr"/>
          <a:lstStyle/>
          <a:p>
            <a:pPr algn="l" indent="0" marL="0">
              <a:buNone/>
            </a:pPr>
            <a:r>
              <a:rPr lang="en-US" sz="1050" dirty="0">
                <a:solidFill>
                  <a:srgbClr val="AEB8CC"/>
                </a:solidFill>
                <a:latin typeface="Calibri" pitchFamily="34" charset="0"/>
                <a:ea typeface="Calibri" pitchFamily="34" charset="-122"/>
                <a:cs typeface="Calibri" pitchFamily="34" charset="-120"/>
              </a:rPr>
              <a:t>SPARK — processes the data</a:t>
            </a:r>
            <a:endParaRPr lang="en-US" sz="1050" dirty="0"/>
          </a:p>
        </p:txBody>
      </p:sp>
      <p:sp>
        <p:nvSpPr>
          <p:cNvPr id="13" name="Shape 9"/>
          <p:cNvSpPr/>
          <p:nvPr/>
        </p:nvSpPr>
        <p:spPr>
          <a:xfrm>
            <a:off x="6400800" y="4892040"/>
            <a:ext cx="566928" cy="566928"/>
          </a:xfrm>
          <a:prstGeom prst="ellipse">
            <a:avLst/>
          </a:prstGeom>
          <a:solidFill>
            <a:srgbClr val="2E3A73"/>
          </a:solidFill>
          <a:ln/>
        </p:spPr>
      </p:sp>
      <p:pic>
        <p:nvPicPr>
          <p:cNvPr id="14" name="Image 2" descr="preencoded.png">    </p:cNvPr>
          <p:cNvPicPr>
            <a:picLocks noChangeAspect="1"/>
          </p:cNvPicPr>
          <p:nvPr/>
        </p:nvPicPr>
        <p:blipFill>
          <a:blip r:embed="rId3"/>
          <a:stretch>
            <a:fillRect/>
          </a:stretch>
        </p:blipFill>
        <p:spPr>
          <a:xfrm>
            <a:off x="6548201" y="5039441"/>
            <a:ext cx="272125" cy="272125"/>
          </a:xfrm>
          <a:prstGeom prst="rect">
            <a:avLst/>
          </a:prstGeom>
        </p:spPr>
      </p:pic>
      <p:sp>
        <p:nvSpPr>
          <p:cNvPr id="15" name="Text 10"/>
          <p:cNvSpPr/>
          <p:nvPr/>
        </p:nvSpPr>
        <p:spPr>
          <a:xfrm>
            <a:off x="6263640" y="5532120"/>
            <a:ext cx="2377440" cy="548640"/>
          </a:xfrm>
          <a:prstGeom prst="rect">
            <a:avLst/>
          </a:prstGeom>
          <a:noFill/>
          <a:ln/>
        </p:spPr>
        <p:txBody>
          <a:bodyPr wrap="square" rtlCol="0" anchor="ctr"/>
          <a:lstStyle/>
          <a:p>
            <a:pPr algn="l" indent="0" marL="0">
              <a:buNone/>
            </a:pPr>
            <a:r>
              <a:rPr lang="en-US" sz="1050" dirty="0">
                <a:solidFill>
                  <a:srgbClr val="AEB8CC"/>
                </a:solidFill>
                <a:latin typeface="Calibri" pitchFamily="34" charset="0"/>
                <a:ea typeface="Calibri" pitchFamily="34" charset="-122"/>
                <a:cs typeface="Calibri" pitchFamily="34" charset="-120"/>
              </a:rPr>
              <a:t>HIVE — serves the data</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ROADMAP</a:t>
            </a:r>
            <a:endParaRPr lang="en-US" sz="1250" dirty="0"/>
          </a:p>
        </p:txBody>
      </p:sp>
      <p:sp>
        <p:nvSpPr>
          <p:cNvPr id="3" name="Text 1"/>
          <p:cNvSpPr/>
          <p:nvPr/>
        </p:nvSpPr>
        <p:spPr>
          <a:xfrm>
            <a:off x="548640" y="658368"/>
            <a:ext cx="10789920" cy="822960"/>
          </a:xfrm>
          <a:prstGeom prst="rect">
            <a:avLst/>
          </a:prstGeom>
          <a:noFill/>
          <a:ln/>
        </p:spPr>
        <p:txBody>
          <a:bodyPr wrap="square" rtlCol="0" anchor="ctr"/>
          <a:lstStyle/>
          <a:p>
            <a:pPr indent="0" marL="0">
              <a:buNone/>
            </a:pPr>
            <a:r>
              <a:rPr lang="en-US" sz="3000" b="1" dirty="0">
                <a:solidFill>
                  <a:srgbClr val="1B1F2A"/>
                </a:solidFill>
                <a:latin typeface="Cambria" pitchFamily="34" charset="0"/>
                <a:ea typeface="Cambria" pitchFamily="34" charset="-122"/>
                <a:cs typeface="Cambria" pitchFamily="34" charset="-120"/>
              </a:rPr>
              <a:t>What we'll cover</a:t>
            </a:r>
            <a:endParaRPr lang="en-US" sz="3000" dirty="0"/>
          </a:p>
        </p:txBody>
      </p:sp>
      <p:sp>
        <p:nvSpPr>
          <p:cNvPr id="4" name="Shape 2"/>
          <p:cNvSpPr/>
          <p:nvPr/>
        </p:nvSpPr>
        <p:spPr>
          <a:xfrm>
            <a:off x="548640" y="1691640"/>
            <a:ext cx="5212080" cy="1051560"/>
          </a:xfrm>
          <a:prstGeom prst="roundRect">
            <a:avLst>
              <a:gd name="adj" fmla="val 7826"/>
            </a:avLst>
          </a:prstGeom>
          <a:solidFill>
            <a:srgbClr val="F4F7FA"/>
          </a:solidFill>
          <a:ln/>
        </p:spPr>
      </p:sp>
      <p:sp>
        <p:nvSpPr>
          <p:cNvPr id="5" name="Shape 3"/>
          <p:cNvSpPr/>
          <p:nvPr/>
        </p:nvSpPr>
        <p:spPr>
          <a:xfrm>
            <a:off x="749808" y="2043684"/>
            <a:ext cx="347472" cy="347472"/>
          </a:xfrm>
          <a:prstGeom prst="ellipse">
            <a:avLst/>
          </a:prstGeom>
          <a:solidFill>
            <a:srgbClr val="065A82"/>
          </a:solidFill>
          <a:ln/>
        </p:spPr>
      </p:sp>
      <p:sp>
        <p:nvSpPr>
          <p:cNvPr id="6" name="Text 4"/>
          <p:cNvSpPr/>
          <p:nvPr/>
        </p:nvSpPr>
        <p:spPr>
          <a:xfrm>
            <a:off x="749808" y="2043684"/>
            <a:ext cx="347472"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234440" y="1819656"/>
            <a:ext cx="4343400" cy="365760"/>
          </a:xfrm>
          <a:prstGeom prst="rect">
            <a:avLst/>
          </a:prstGeom>
          <a:noFill/>
          <a:ln/>
        </p:spPr>
        <p:txBody>
          <a:bodyPr wrap="square" rtlCol="0" anchor="ctr"/>
          <a:lstStyle/>
          <a:p>
            <a:pPr indent="0" marL="0">
              <a:buNone/>
            </a:pPr>
            <a:r>
              <a:rPr lang="en-US" sz="1450" b="1" dirty="0">
                <a:solidFill>
                  <a:srgbClr val="1B1F2A"/>
                </a:solidFill>
                <a:latin typeface="Calibri" pitchFamily="34" charset="0"/>
                <a:ea typeface="Calibri" pitchFamily="34" charset="-122"/>
                <a:cs typeface="Calibri" pitchFamily="34" charset="-120"/>
              </a:rPr>
              <a:t>The business problem</a:t>
            </a:r>
            <a:endParaRPr lang="en-US" sz="1450" dirty="0"/>
          </a:p>
        </p:txBody>
      </p:sp>
      <p:sp>
        <p:nvSpPr>
          <p:cNvPr id="8" name="Text 6"/>
          <p:cNvSpPr/>
          <p:nvPr/>
        </p:nvSpPr>
        <p:spPr>
          <a:xfrm>
            <a:off x="1234440" y="2203704"/>
            <a:ext cx="4343400" cy="457200"/>
          </a:xfrm>
          <a:prstGeom prst="rect">
            <a:avLst/>
          </a:prstGeom>
          <a:noFill/>
          <a:ln/>
        </p:spPr>
        <p:txBody>
          <a:bodyPr wrap="square" rtlCol="0" anchor="ctr"/>
          <a:lstStyle/>
          <a:p>
            <a:pPr indent="0" marL="0">
              <a:buNone/>
            </a:pPr>
            <a:r>
              <a:rPr lang="en-US" sz="1150" dirty="0">
                <a:solidFill>
                  <a:srgbClr val="5B6472"/>
                </a:solidFill>
                <a:latin typeface="Calibri" pitchFamily="34" charset="0"/>
                <a:ea typeface="Calibri" pitchFamily="34" charset="-122"/>
                <a:cs typeface="Calibri" pitchFamily="34" charset="-120"/>
              </a:rPr>
              <a:t>Why Target needs this pipeline at all</a:t>
            </a:r>
            <a:endParaRPr lang="en-US" sz="1150" dirty="0"/>
          </a:p>
        </p:txBody>
      </p:sp>
      <p:sp>
        <p:nvSpPr>
          <p:cNvPr id="9" name="Shape 7"/>
          <p:cNvSpPr/>
          <p:nvPr/>
        </p:nvSpPr>
        <p:spPr>
          <a:xfrm>
            <a:off x="6126480" y="1691640"/>
            <a:ext cx="5212080" cy="1051560"/>
          </a:xfrm>
          <a:prstGeom prst="roundRect">
            <a:avLst>
              <a:gd name="adj" fmla="val 7826"/>
            </a:avLst>
          </a:prstGeom>
          <a:solidFill>
            <a:srgbClr val="F4F7FA"/>
          </a:solidFill>
          <a:ln/>
        </p:spPr>
      </p:sp>
      <p:sp>
        <p:nvSpPr>
          <p:cNvPr id="10" name="Shape 8"/>
          <p:cNvSpPr/>
          <p:nvPr/>
        </p:nvSpPr>
        <p:spPr>
          <a:xfrm>
            <a:off x="6327648" y="2043684"/>
            <a:ext cx="347472" cy="347472"/>
          </a:xfrm>
          <a:prstGeom prst="ellipse">
            <a:avLst/>
          </a:prstGeom>
          <a:solidFill>
            <a:srgbClr val="065A82"/>
          </a:solidFill>
          <a:ln/>
        </p:spPr>
      </p:sp>
      <p:sp>
        <p:nvSpPr>
          <p:cNvPr id="11" name="Text 9"/>
          <p:cNvSpPr/>
          <p:nvPr/>
        </p:nvSpPr>
        <p:spPr>
          <a:xfrm>
            <a:off x="6327648" y="2043684"/>
            <a:ext cx="347472"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6812280" y="1819656"/>
            <a:ext cx="4343400" cy="365760"/>
          </a:xfrm>
          <a:prstGeom prst="rect">
            <a:avLst/>
          </a:prstGeom>
          <a:noFill/>
          <a:ln/>
        </p:spPr>
        <p:txBody>
          <a:bodyPr wrap="square" rtlCol="0" anchor="ctr"/>
          <a:lstStyle/>
          <a:p>
            <a:pPr indent="0" marL="0">
              <a:buNone/>
            </a:pPr>
            <a:r>
              <a:rPr lang="en-US" sz="1450" b="1" dirty="0">
                <a:solidFill>
                  <a:srgbClr val="1B1F2A"/>
                </a:solidFill>
                <a:latin typeface="Calibri" pitchFamily="34" charset="0"/>
                <a:ea typeface="Calibri" pitchFamily="34" charset="-122"/>
                <a:cs typeface="Calibri" pitchFamily="34" charset="-120"/>
              </a:rPr>
              <a:t>The 3-stage architecture</a:t>
            </a:r>
            <a:endParaRPr lang="en-US" sz="1450" dirty="0"/>
          </a:p>
        </p:txBody>
      </p:sp>
      <p:sp>
        <p:nvSpPr>
          <p:cNvPr id="13" name="Text 11"/>
          <p:cNvSpPr/>
          <p:nvPr/>
        </p:nvSpPr>
        <p:spPr>
          <a:xfrm>
            <a:off x="6812280" y="2203704"/>
            <a:ext cx="4343400" cy="457200"/>
          </a:xfrm>
          <a:prstGeom prst="rect">
            <a:avLst/>
          </a:prstGeom>
          <a:noFill/>
          <a:ln/>
        </p:spPr>
        <p:txBody>
          <a:bodyPr wrap="square" rtlCol="0" anchor="ctr"/>
          <a:lstStyle/>
          <a:p>
            <a:pPr indent="0" marL="0">
              <a:buNone/>
            </a:pPr>
            <a:r>
              <a:rPr lang="en-US" sz="1150" dirty="0">
                <a:solidFill>
                  <a:srgbClr val="5B6472"/>
                </a:solidFill>
                <a:latin typeface="Calibri" pitchFamily="34" charset="0"/>
                <a:ea typeface="Calibri" pitchFamily="34" charset="-122"/>
                <a:cs typeface="Calibri" pitchFamily="34" charset="-120"/>
              </a:rPr>
              <a:t>Kafka, Spark, and Hive — one job each</a:t>
            </a:r>
            <a:endParaRPr lang="en-US" sz="1150" dirty="0"/>
          </a:p>
        </p:txBody>
      </p:sp>
      <p:sp>
        <p:nvSpPr>
          <p:cNvPr id="14" name="Shape 12"/>
          <p:cNvSpPr/>
          <p:nvPr/>
        </p:nvSpPr>
        <p:spPr>
          <a:xfrm>
            <a:off x="548640" y="2999232"/>
            <a:ext cx="5212080" cy="1051560"/>
          </a:xfrm>
          <a:prstGeom prst="roundRect">
            <a:avLst>
              <a:gd name="adj" fmla="val 7826"/>
            </a:avLst>
          </a:prstGeom>
          <a:solidFill>
            <a:srgbClr val="F4F7FA"/>
          </a:solidFill>
          <a:ln/>
        </p:spPr>
      </p:sp>
      <p:sp>
        <p:nvSpPr>
          <p:cNvPr id="15" name="Shape 13"/>
          <p:cNvSpPr/>
          <p:nvPr/>
        </p:nvSpPr>
        <p:spPr>
          <a:xfrm>
            <a:off x="749808" y="3351276"/>
            <a:ext cx="347472" cy="347472"/>
          </a:xfrm>
          <a:prstGeom prst="ellipse">
            <a:avLst/>
          </a:prstGeom>
          <a:solidFill>
            <a:srgbClr val="065A82"/>
          </a:solidFill>
          <a:ln/>
        </p:spPr>
      </p:sp>
      <p:sp>
        <p:nvSpPr>
          <p:cNvPr id="16" name="Text 14"/>
          <p:cNvSpPr/>
          <p:nvPr/>
        </p:nvSpPr>
        <p:spPr>
          <a:xfrm>
            <a:off x="749808" y="3351276"/>
            <a:ext cx="347472"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234440" y="3127248"/>
            <a:ext cx="4343400" cy="365760"/>
          </a:xfrm>
          <a:prstGeom prst="rect">
            <a:avLst/>
          </a:prstGeom>
          <a:noFill/>
          <a:ln/>
        </p:spPr>
        <p:txBody>
          <a:bodyPr wrap="square" rtlCol="0" anchor="ctr"/>
          <a:lstStyle/>
          <a:p>
            <a:pPr indent="0" marL="0">
              <a:buNone/>
            </a:pPr>
            <a:r>
              <a:rPr lang="en-US" sz="1450" b="1" dirty="0">
                <a:solidFill>
                  <a:srgbClr val="1B1F2A"/>
                </a:solidFill>
                <a:latin typeface="Calibri" pitchFamily="34" charset="0"/>
                <a:ea typeface="Calibri" pitchFamily="34" charset="-122"/>
                <a:cs typeface="Calibri" pitchFamily="34" charset="-120"/>
              </a:rPr>
              <a:t>Kafka: how data gets in</a:t>
            </a:r>
            <a:endParaRPr lang="en-US" sz="1450" dirty="0"/>
          </a:p>
        </p:txBody>
      </p:sp>
      <p:sp>
        <p:nvSpPr>
          <p:cNvPr id="18" name="Text 16"/>
          <p:cNvSpPr/>
          <p:nvPr/>
        </p:nvSpPr>
        <p:spPr>
          <a:xfrm>
            <a:off x="1234440" y="3511296"/>
            <a:ext cx="4343400" cy="457200"/>
          </a:xfrm>
          <a:prstGeom prst="rect">
            <a:avLst/>
          </a:prstGeom>
          <a:noFill/>
          <a:ln/>
        </p:spPr>
        <p:txBody>
          <a:bodyPr wrap="square" rtlCol="0" anchor="ctr"/>
          <a:lstStyle/>
          <a:p>
            <a:pPr indent="0" marL="0">
              <a:buNone/>
            </a:pPr>
            <a:r>
              <a:rPr lang="en-US" sz="1150" dirty="0">
                <a:solidFill>
                  <a:srgbClr val="5B6472"/>
                </a:solidFill>
                <a:latin typeface="Calibri" pitchFamily="34" charset="0"/>
                <a:ea typeface="Calibri" pitchFamily="34" charset="-122"/>
                <a:cs typeface="Calibri" pitchFamily="34" charset="-120"/>
              </a:rPr>
              <a:t>Producers, consumers, topics, replay</a:t>
            </a:r>
            <a:endParaRPr lang="en-US" sz="1150" dirty="0"/>
          </a:p>
        </p:txBody>
      </p:sp>
      <p:sp>
        <p:nvSpPr>
          <p:cNvPr id="19" name="Shape 17"/>
          <p:cNvSpPr/>
          <p:nvPr/>
        </p:nvSpPr>
        <p:spPr>
          <a:xfrm>
            <a:off x="6126480" y="2999232"/>
            <a:ext cx="5212080" cy="1051560"/>
          </a:xfrm>
          <a:prstGeom prst="roundRect">
            <a:avLst>
              <a:gd name="adj" fmla="val 7826"/>
            </a:avLst>
          </a:prstGeom>
          <a:solidFill>
            <a:srgbClr val="F4F7FA"/>
          </a:solidFill>
          <a:ln/>
        </p:spPr>
      </p:sp>
      <p:sp>
        <p:nvSpPr>
          <p:cNvPr id="20" name="Shape 18"/>
          <p:cNvSpPr/>
          <p:nvPr/>
        </p:nvSpPr>
        <p:spPr>
          <a:xfrm>
            <a:off x="6327648" y="3351276"/>
            <a:ext cx="347472" cy="347472"/>
          </a:xfrm>
          <a:prstGeom prst="ellipse">
            <a:avLst/>
          </a:prstGeom>
          <a:solidFill>
            <a:srgbClr val="065A82"/>
          </a:solidFill>
          <a:ln/>
        </p:spPr>
      </p:sp>
      <p:sp>
        <p:nvSpPr>
          <p:cNvPr id="21" name="Text 19"/>
          <p:cNvSpPr/>
          <p:nvPr/>
        </p:nvSpPr>
        <p:spPr>
          <a:xfrm>
            <a:off x="6327648" y="3351276"/>
            <a:ext cx="347472"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6812280" y="3127248"/>
            <a:ext cx="4343400" cy="365760"/>
          </a:xfrm>
          <a:prstGeom prst="rect">
            <a:avLst/>
          </a:prstGeom>
          <a:noFill/>
          <a:ln/>
        </p:spPr>
        <p:txBody>
          <a:bodyPr wrap="square" rtlCol="0" anchor="ctr"/>
          <a:lstStyle/>
          <a:p>
            <a:pPr indent="0" marL="0">
              <a:buNone/>
            </a:pPr>
            <a:r>
              <a:rPr lang="en-US" sz="1450" b="1" dirty="0">
                <a:solidFill>
                  <a:srgbClr val="1B1F2A"/>
                </a:solidFill>
                <a:latin typeface="Calibri" pitchFamily="34" charset="0"/>
                <a:ea typeface="Calibri" pitchFamily="34" charset="-122"/>
                <a:cs typeface="Calibri" pitchFamily="34" charset="-120"/>
              </a:rPr>
              <a:t>Spark: how data gets cleaned</a:t>
            </a:r>
            <a:endParaRPr lang="en-US" sz="1450" dirty="0"/>
          </a:p>
        </p:txBody>
      </p:sp>
      <p:sp>
        <p:nvSpPr>
          <p:cNvPr id="23" name="Text 21"/>
          <p:cNvSpPr/>
          <p:nvPr/>
        </p:nvSpPr>
        <p:spPr>
          <a:xfrm>
            <a:off x="6812280" y="3511296"/>
            <a:ext cx="4343400" cy="457200"/>
          </a:xfrm>
          <a:prstGeom prst="rect">
            <a:avLst/>
          </a:prstGeom>
          <a:noFill/>
          <a:ln/>
        </p:spPr>
        <p:txBody>
          <a:bodyPr wrap="square" rtlCol="0" anchor="ctr"/>
          <a:lstStyle/>
          <a:p>
            <a:pPr indent="0" marL="0">
              <a:buNone/>
            </a:pPr>
            <a:r>
              <a:rPr lang="en-US" sz="1150" dirty="0">
                <a:solidFill>
                  <a:srgbClr val="5B6472"/>
                </a:solidFill>
                <a:latin typeface="Calibri" pitchFamily="34" charset="0"/>
                <a:ea typeface="Calibri" pitchFamily="34" charset="-122"/>
                <a:cs typeface="Calibri" pitchFamily="34" charset="-120"/>
              </a:rPr>
              <a:t>Schemas, laziness, a real bug we hit</a:t>
            </a:r>
            <a:endParaRPr lang="en-US" sz="1150" dirty="0"/>
          </a:p>
        </p:txBody>
      </p:sp>
      <p:sp>
        <p:nvSpPr>
          <p:cNvPr id="24" name="Shape 22"/>
          <p:cNvSpPr/>
          <p:nvPr/>
        </p:nvSpPr>
        <p:spPr>
          <a:xfrm>
            <a:off x="548640" y="4306824"/>
            <a:ext cx="5212080" cy="1051560"/>
          </a:xfrm>
          <a:prstGeom prst="roundRect">
            <a:avLst>
              <a:gd name="adj" fmla="val 7826"/>
            </a:avLst>
          </a:prstGeom>
          <a:solidFill>
            <a:srgbClr val="F4F7FA"/>
          </a:solidFill>
          <a:ln/>
        </p:spPr>
      </p:sp>
      <p:sp>
        <p:nvSpPr>
          <p:cNvPr id="25" name="Shape 23"/>
          <p:cNvSpPr/>
          <p:nvPr/>
        </p:nvSpPr>
        <p:spPr>
          <a:xfrm>
            <a:off x="749808" y="4658868"/>
            <a:ext cx="347472" cy="347472"/>
          </a:xfrm>
          <a:prstGeom prst="ellipse">
            <a:avLst/>
          </a:prstGeom>
          <a:solidFill>
            <a:srgbClr val="065A82"/>
          </a:solidFill>
          <a:ln/>
        </p:spPr>
      </p:sp>
      <p:sp>
        <p:nvSpPr>
          <p:cNvPr id="26" name="Text 24"/>
          <p:cNvSpPr/>
          <p:nvPr/>
        </p:nvSpPr>
        <p:spPr>
          <a:xfrm>
            <a:off x="749808" y="4658868"/>
            <a:ext cx="347472"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1234440" y="4434840"/>
            <a:ext cx="4343400" cy="365760"/>
          </a:xfrm>
          <a:prstGeom prst="rect">
            <a:avLst/>
          </a:prstGeom>
          <a:noFill/>
          <a:ln/>
        </p:spPr>
        <p:txBody>
          <a:bodyPr wrap="square" rtlCol="0" anchor="ctr"/>
          <a:lstStyle/>
          <a:p>
            <a:pPr indent="0" marL="0">
              <a:buNone/>
            </a:pPr>
            <a:r>
              <a:rPr lang="en-US" sz="1450" b="1" dirty="0">
                <a:solidFill>
                  <a:srgbClr val="1B1F2A"/>
                </a:solidFill>
                <a:latin typeface="Calibri" pitchFamily="34" charset="0"/>
                <a:ea typeface="Calibri" pitchFamily="34" charset="-122"/>
                <a:cs typeface="Calibri" pitchFamily="34" charset="-120"/>
              </a:rPr>
              <a:t>Hive: how results get served</a:t>
            </a:r>
            <a:endParaRPr lang="en-US" sz="1450" dirty="0"/>
          </a:p>
        </p:txBody>
      </p:sp>
      <p:sp>
        <p:nvSpPr>
          <p:cNvPr id="28" name="Text 26"/>
          <p:cNvSpPr/>
          <p:nvPr/>
        </p:nvSpPr>
        <p:spPr>
          <a:xfrm>
            <a:off x="1234440" y="4818888"/>
            <a:ext cx="4343400" cy="457200"/>
          </a:xfrm>
          <a:prstGeom prst="rect">
            <a:avLst/>
          </a:prstGeom>
          <a:noFill/>
          <a:ln/>
        </p:spPr>
        <p:txBody>
          <a:bodyPr wrap="square" rtlCol="0" anchor="ctr"/>
          <a:lstStyle/>
          <a:p>
            <a:pPr indent="0" marL="0">
              <a:buNone/>
            </a:pPr>
            <a:r>
              <a:rPr lang="en-US" sz="1150" dirty="0">
                <a:solidFill>
                  <a:srgbClr val="5B6472"/>
                </a:solidFill>
                <a:latin typeface="Calibri" pitchFamily="34" charset="0"/>
                <a:ea typeface="Calibri" pitchFamily="34" charset="-122"/>
                <a:cs typeface="Calibri" pitchFamily="34" charset="-120"/>
              </a:rPr>
              <a:t>The metastore and SQL over files</a:t>
            </a:r>
            <a:endParaRPr lang="en-US" sz="1150" dirty="0"/>
          </a:p>
        </p:txBody>
      </p:sp>
      <p:sp>
        <p:nvSpPr>
          <p:cNvPr id="29" name="Shape 27"/>
          <p:cNvSpPr/>
          <p:nvPr/>
        </p:nvSpPr>
        <p:spPr>
          <a:xfrm>
            <a:off x="6126480" y="4306824"/>
            <a:ext cx="5212080" cy="1051560"/>
          </a:xfrm>
          <a:prstGeom prst="roundRect">
            <a:avLst>
              <a:gd name="adj" fmla="val 7826"/>
            </a:avLst>
          </a:prstGeom>
          <a:solidFill>
            <a:srgbClr val="F4F7FA"/>
          </a:solidFill>
          <a:ln/>
        </p:spPr>
      </p:sp>
      <p:sp>
        <p:nvSpPr>
          <p:cNvPr id="30" name="Shape 28"/>
          <p:cNvSpPr/>
          <p:nvPr/>
        </p:nvSpPr>
        <p:spPr>
          <a:xfrm>
            <a:off x="6327648" y="4658868"/>
            <a:ext cx="347472" cy="347472"/>
          </a:xfrm>
          <a:prstGeom prst="ellipse">
            <a:avLst/>
          </a:prstGeom>
          <a:solidFill>
            <a:srgbClr val="065A82"/>
          </a:solidFill>
          <a:ln/>
        </p:spPr>
      </p:sp>
      <p:sp>
        <p:nvSpPr>
          <p:cNvPr id="31" name="Text 29"/>
          <p:cNvSpPr/>
          <p:nvPr/>
        </p:nvSpPr>
        <p:spPr>
          <a:xfrm>
            <a:off x="6327648" y="4658868"/>
            <a:ext cx="347472"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2" name="Text 30"/>
          <p:cNvSpPr/>
          <p:nvPr/>
        </p:nvSpPr>
        <p:spPr>
          <a:xfrm>
            <a:off x="6812280" y="4434840"/>
            <a:ext cx="4343400" cy="365760"/>
          </a:xfrm>
          <a:prstGeom prst="rect">
            <a:avLst/>
          </a:prstGeom>
          <a:noFill/>
          <a:ln/>
        </p:spPr>
        <p:txBody>
          <a:bodyPr wrap="square" rtlCol="0" anchor="ctr"/>
          <a:lstStyle/>
          <a:p>
            <a:pPr indent="0" marL="0">
              <a:buNone/>
            </a:pPr>
            <a:r>
              <a:rPr lang="en-US" sz="1450" b="1" dirty="0">
                <a:solidFill>
                  <a:srgbClr val="1B1F2A"/>
                </a:solidFill>
                <a:latin typeface="Calibri" pitchFamily="34" charset="0"/>
                <a:ea typeface="Calibri" pitchFamily="34" charset="-122"/>
                <a:cs typeface="Calibri" pitchFamily="34" charset="-120"/>
              </a:rPr>
              <a:t>The results</a:t>
            </a:r>
            <a:endParaRPr lang="en-US" sz="1450" dirty="0"/>
          </a:p>
        </p:txBody>
      </p:sp>
      <p:sp>
        <p:nvSpPr>
          <p:cNvPr id="33" name="Text 31"/>
          <p:cNvSpPr/>
          <p:nvPr/>
        </p:nvSpPr>
        <p:spPr>
          <a:xfrm>
            <a:off x="6812280" y="4818888"/>
            <a:ext cx="4343400" cy="457200"/>
          </a:xfrm>
          <a:prstGeom prst="rect">
            <a:avLst/>
          </a:prstGeom>
          <a:noFill/>
          <a:ln/>
        </p:spPr>
        <p:txBody>
          <a:bodyPr wrap="square" rtlCol="0" anchor="ctr"/>
          <a:lstStyle/>
          <a:p>
            <a:pPr indent="0" marL="0">
              <a:buNone/>
            </a:pPr>
            <a:r>
              <a:rPr lang="en-US" sz="1150" dirty="0">
                <a:solidFill>
                  <a:srgbClr val="5B6472"/>
                </a:solidFill>
                <a:latin typeface="Calibri" pitchFamily="34" charset="0"/>
                <a:ea typeface="Calibri" pitchFamily="34" charset="-122"/>
                <a:cs typeface="Calibri" pitchFamily="34" charset="-120"/>
              </a:rPr>
              <a:t>EDA, business insights, and an honest null finding</a:t>
            </a:r>
            <a:endParaRPr lang="en-US" sz="1150" dirty="0"/>
          </a:p>
        </p:txBody>
      </p:sp>
      <p:sp>
        <p:nvSpPr>
          <p:cNvPr id="34" name="Shape 32"/>
          <p:cNvSpPr/>
          <p:nvPr/>
        </p:nvSpPr>
        <p:spPr>
          <a:xfrm>
            <a:off x="548640" y="5614416"/>
            <a:ext cx="5212080" cy="1051560"/>
          </a:xfrm>
          <a:prstGeom prst="roundRect">
            <a:avLst>
              <a:gd name="adj" fmla="val 7826"/>
            </a:avLst>
          </a:prstGeom>
          <a:solidFill>
            <a:srgbClr val="F4F7FA"/>
          </a:solidFill>
          <a:ln/>
        </p:spPr>
      </p:sp>
      <p:sp>
        <p:nvSpPr>
          <p:cNvPr id="35" name="Shape 33"/>
          <p:cNvSpPr/>
          <p:nvPr/>
        </p:nvSpPr>
        <p:spPr>
          <a:xfrm>
            <a:off x="749808" y="5966460"/>
            <a:ext cx="347472" cy="347472"/>
          </a:xfrm>
          <a:prstGeom prst="ellipse">
            <a:avLst/>
          </a:prstGeom>
          <a:solidFill>
            <a:srgbClr val="065A82"/>
          </a:solidFill>
          <a:ln/>
        </p:spPr>
      </p:sp>
      <p:sp>
        <p:nvSpPr>
          <p:cNvPr id="36" name="Text 34"/>
          <p:cNvSpPr/>
          <p:nvPr/>
        </p:nvSpPr>
        <p:spPr>
          <a:xfrm>
            <a:off x="749808" y="5966460"/>
            <a:ext cx="347472"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7" name="Text 35"/>
          <p:cNvSpPr/>
          <p:nvPr/>
        </p:nvSpPr>
        <p:spPr>
          <a:xfrm>
            <a:off x="1234440" y="5742432"/>
            <a:ext cx="4343400" cy="365760"/>
          </a:xfrm>
          <a:prstGeom prst="rect">
            <a:avLst/>
          </a:prstGeom>
          <a:noFill/>
          <a:ln/>
        </p:spPr>
        <p:txBody>
          <a:bodyPr wrap="square" rtlCol="0" anchor="ctr"/>
          <a:lstStyle/>
          <a:p>
            <a:pPr indent="0" marL="0">
              <a:buNone/>
            </a:pPr>
            <a:r>
              <a:rPr lang="en-US" sz="1450" b="1" dirty="0">
                <a:solidFill>
                  <a:srgbClr val="1B1F2A"/>
                </a:solidFill>
                <a:latin typeface="Calibri" pitchFamily="34" charset="0"/>
                <a:ea typeface="Calibri" pitchFamily="34" charset="-122"/>
                <a:cs typeface="Calibri" pitchFamily="34" charset="-120"/>
              </a:rPr>
              <a:t>Toy vs. production</a:t>
            </a:r>
            <a:endParaRPr lang="en-US" sz="1450" dirty="0"/>
          </a:p>
        </p:txBody>
      </p:sp>
      <p:sp>
        <p:nvSpPr>
          <p:cNvPr id="38" name="Text 36"/>
          <p:cNvSpPr/>
          <p:nvPr/>
        </p:nvSpPr>
        <p:spPr>
          <a:xfrm>
            <a:off x="1234440" y="6126480"/>
            <a:ext cx="4343400" cy="457200"/>
          </a:xfrm>
          <a:prstGeom prst="rect">
            <a:avLst/>
          </a:prstGeom>
          <a:noFill/>
          <a:ln/>
        </p:spPr>
        <p:txBody>
          <a:bodyPr wrap="square" rtlCol="0" anchor="ctr"/>
          <a:lstStyle/>
          <a:p>
            <a:pPr indent="0" marL="0">
              <a:buNone/>
            </a:pPr>
            <a:r>
              <a:rPr lang="en-US" sz="1150" dirty="0">
                <a:solidFill>
                  <a:srgbClr val="5B6472"/>
                </a:solidFill>
                <a:latin typeface="Calibri" pitchFamily="34" charset="0"/>
                <a:ea typeface="Calibri" pitchFamily="34" charset="-122"/>
                <a:cs typeface="Calibri" pitchFamily="34" charset="-120"/>
              </a:rPr>
              <a:t>What a real company would do differently</a:t>
            </a:r>
            <a:endParaRPr lang="en-US" sz="1150" dirty="0"/>
          </a:p>
        </p:txBody>
      </p:sp>
      <p:sp>
        <p:nvSpPr>
          <p:cNvPr id="39" name="Text 37"/>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A7AFBD"/>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THE SETUP</a:t>
            </a:r>
            <a:endParaRPr lang="en-US" sz="1250" dirty="0"/>
          </a:p>
        </p:txBody>
      </p:sp>
      <p:sp>
        <p:nvSpPr>
          <p:cNvPr id="3" name="Text 1"/>
          <p:cNvSpPr/>
          <p:nvPr/>
        </p:nvSpPr>
        <p:spPr>
          <a:xfrm>
            <a:off x="548640" y="658368"/>
            <a:ext cx="10789920" cy="822960"/>
          </a:xfrm>
          <a:prstGeom prst="rect">
            <a:avLst/>
          </a:prstGeom>
          <a:noFill/>
          <a:ln/>
        </p:spPr>
        <p:txBody>
          <a:bodyPr wrap="square" rtlCol="0" anchor="ctr"/>
          <a:lstStyle/>
          <a:p>
            <a:pPr indent="0" marL="0">
              <a:buNone/>
            </a:pPr>
            <a:r>
              <a:rPr lang="en-US" sz="3000" b="1" dirty="0">
                <a:solidFill>
                  <a:srgbClr val="1B1F2A"/>
                </a:solidFill>
                <a:latin typeface="Cambria" pitchFamily="34" charset="0"/>
                <a:ea typeface="Cambria" pitchFamily="34" charset="-122"/>
                <a:cs typeface="Cambria" pitchFamily="34" charset="-120"/>
              </a:rPr>
              <a:t>Target has 1,948 stores. Every one is a data source.</a:t>
            </a:r>
            <a:endParaRPr lang="en-US" sz="3000" dirty="0"/>
          </a:p>
        </p:txBody>
      </p:sp>
      <p:sp>
        <p:nvSpPr>
          <p:cNvPr id="4" name="Text 2"/>
          <p:cNvSpPr/>
          <p:nvPr/>
        </p:nvSpPr>
        <p:spPr>
          <a:xfrm>
            <a:off x="548640" y="1600200"/>
            <a:ext cx="5760720" cy="1828800"/>
          </a:xfrm>
          <a:prstGeom prst="rect">
            <a:avLst/>
          </a:prstGeom>
          <a:noFill/>
          <a:ln/>
        </p:spPr>
        <p:txBody>
          <a:bodyPr wrap="square" rtlCol="0" anchor="ctr"/>
          <a:lstStyle/>
          <a:p>
            <a:pPr indent="0" marL="0">
              <a:lnSpc>
                <a:spcPct val="130000"/>
              </a:lnSpc>
              <a:buNone/>
            </a:pPr>
            <a:r>
              <a:rPr lang="en-US" sz="1500" dirty="0">
                <a:solidFill>
                  <a:srgbClr val="1B1F2A"/>
                </a:solidFill>
                <a:latin typeface="Calibri" pitchFamily="34" charset="0"/>
                <a:ea typeface="Calibri" pitchFamily="34" charset="-122"/>
                <a:cs typeface="Calibri" pitchFamily="34" charset="-120"/>
              </a:rPr>
              <a:t>Every checkout at every store produces an order: what was bought, what it cost, where it shipped, how the customer rated it. That's thousands of events a day, arriving continuously — not a neat spreadsheet someone hands you once a quarter.</a:t>
            </a:r>
            <a:endParaRPr lang="en-US" sz="1500" dirty="0"/>
          </a:p>
        </p:txBody>
      </p:sp>
      <p:sp>
        <p:nvSpPr>
          <p:cNvPr id="5" name="Text 3"/>
          <p:cNvSpPr/>
          <p:nvPr/>
        </p:nvSpPr>
        <p:spPr>
          <a:xfrm>
            <a:off x="548640" y="3611880"/>
            <a:ext cx="5760720" cy="1554480"/>
          </a:xfrm>
          <a:prstGeom prst="rect">
            <a:avLst/>
          </a:prstGeom>
          <a:noFill/>
          <a:ln/>
        </p:spPr>
        <p:txBody>
          <a:bodyPr wrap="square" rtlCol="0" anchor="ctr"/>
          <a:lstStyle/>
          <a:p>
            <a:pPr indent="0" marL="0">
              <a:lnSpc>
                <a:spcPct val="130000"/>
              </a:lnSpc>
              <a:buNone/>
            </a:pPr>
            <a:r>
              <a:rPr lang="en-US" sz="1500" dirty="0">
                <a:solidFill>
                  <a:srgbClr val="1B1F2A"/>
                </a:solidFill>
                <a:latin typeface="Calibri" pitchFamily="34" charset="0"/>
                <a:ea typeface="Calibri" pitchFamily="34" charset="-122"/>
                <a:cs typeface="Calibri" pitchFamily="34" charset="-120"/>
              </a:rPr>
              <a:t>The ask: build a pipeline that reliably ingests that stream, cleans and analyzes it, and leaves behind tables a business analyst can query in plain SQL — no Spark or Python required.</a:t>
            </a:r>
            <a:endParaRPr lang="en-US" sz="1500" dirty="0"/>
          </a:p>
        </p:txBody>
      </p:sp>
      <p:sp>
        <p:nvSpPr>
          <p:cNvPr id="6" name="Shape 4"/>
          <p:cNvSpPr/>
          <p:nvPr/>
        </p:nvSpPr>
        <p:spPr>
          <a:xfrm>
            <a:off x="6720840" y="1645920"/>
            <a:ext cx="4892040" cy="1234440"/>
          </a:xfrm>
          <a:prstGeom prst="roundRect">
            <a:avLst>
              <a:gd name="adj" fmla="val 6667"/>
            </a:avLst>
          </a:prstGeom>
          <a:solidFill>
            <a:srgbClr val="21295C"/>
          </a:solidFill>
          <a:ln/>
        </p:spPr>
      </p:sp>
      <p:sp>
        <p:nvSpPr>
          <p:cNvPr id="7" name="Text 5"/>
          <p:cNvSpPr/>
          <p:nvPr/>
        </p:nvSpPr>
        <p:spPr>
          <a:xfrm>
            <a:off x="7040880" y="1755648"/>
            <a:ext cx="2011680" cy="822960"/>
          </a:xfrm>
          <a:prstGeom prst="rect">
            <a:avLst/>
          </a:prstGeom>
          <a:noFill/>
          <a:ln/>
        </p:spPr>
        <p:txBody>
          <a:bodyPr wrap="square" rtlCol="0" anchor="ctr"/>
          <a:lstStyle/>
          <a:p>
            <a:pPr indent="0" marL="0">
              <a:buNone/>
            </a:pPr>
            <a:r>
              <a:rPr lang="en-US" sz="4000" b="1" dirty="0">
                <a:solidFill>
                  <a:srgbClr val="5FB1BF"/>
                </a:solidFill>
                <a:latin typeface="Cambria" pitchFamily="34" charset="0"/>
                <a:ea typeface="Cambria" pitchFamily="34" charset="-122"/>
                <a:cs typeface="Cambria" pitchFamily="34" charset="-120"/>
              </a:rPr>
              <a:t>1,948</a:t>
            </a:r>
            <a:endParaRPr lang="en-US" sz="4000" dirty="0"/>
          </a:p>
        </p:txBody>
      </p:sp>
      <p:sp>
        <p:nvSpPr>
          <p:cNvPr id="8" name="Text 6"/>
          <p:cNvSpPr/>
          <p:nvPr/>
        </p:nvSpPr>
        <p:spPr>
          <a:xfrm>
            <a:off x="9052560" y="1645920"/>
            <a:ext cx="2423160" cy="1234440"/>
          </a:xfrm>
          <a:prstGeom prst="rect">
            <a:avLst/>
          </a:prstGeom>
          <a:noFill/>
          <a:ln/>
        </p:spPr>
        <p:txBody>
          <a:bodyPr wrap="square" rtlCol="0" anchor="ctr"/>
          <a:lstStyle/>
          <a:p>
            <a:pPr indent="0" marL="0">
              <a:lnSpc>
                <a:spcPct val="115000"/>
              </a:lnSpc>
              <a:buNone/>
            </a:pPr>
            <a:r>
              <a:rPr lang="en-US" sz="1300" dirty="0">
                <a:solidFill>
                  <a:srgbClr val="D7DEEA"/>
                </a:solidFill>
                <a:latin typeface="Calibri" pitchFamily="34" charset="0"/>
                <a:ea typeface="Calibri" pitchFamily="34" charset="-122"/>
                <a:cs typeface="Calibri" pitchFamily="34" charset="-120"/>
              </a:rPr>
              <a:t>stores generating orders</a:t>
            </a:r>
            <a:endParaRPr lang="en-US" sz="1300" dirty="0"/>
          </a:p>
        </p:txBody>
      </p:sp>
      <p:sp>
        <p:nvSpPr>
          <p:cNvPr id="9" name="Shape 7"/>
          <p:cNvSpPr/>
          <p:nvPr/>
        </p:nvSpPr>
        <p:spPr>
          <a:xfrm>
            <a:off x="6720840" y="3127248"/>
            <a:ext cx="4892040" cy="1234440"/>
          </a:xfrm>
          <a:prstGeom prst="roundRect">
            <a:avLst>
              <a:gd name="adj" fmla="val 6667"/>
            </a:avLst>
          </a:prstGeom>
          <a:solidFill>
            <a:srgbClr val="21295C"/>
          </a:solidFill>
          <a:ln/>
        </p:spPr>
      </p:sp>
      <p:sp>
        <p:nvSpPr>
          <p:cNvPr id="10" name="Text 8"/>
          <p:cNvSpPr/>
          <p:nvPr/>
        </p:nvSpPr>
        <p:spPr>
          <a:xfrm>
            <a:off x="7040880" y="3236976"/>
            <a:ext cx="2011680" cy="822960"/>
          </a:xfrm>
          <a:prstGeom prst="rect">
            <a:avLst/>
          </a:prstGeom>
          <a:noFill/>
          <a:ln/>
        </p:spPr>
        <p:txBody>
          <a:bodyPr wrap="square" rtlCol="0" anchor="ctr"/>
          <a:lstStyle/>
          <a:p>
            <a:pPr indent="0" marL="0">
              <a:buNone/>
            </a:pPr>
            <a:r>
              <a:rPr lang="en-US" sz="4000" b="1" dirty="0">
                <a:solidFill>
                  <a:srgbClr val="5FB1BF"/>
                </a:solidFill>
                <a:latin typeface="Cambria" pitchFamily="34" charset="0"/>
                <a:ea typeface="Cambria" pitchFamily="34" charset="-122"/>
                <a:cs typeface="Cambria" pitchFamily="34" charset="-120"/>
              </a:rPr>
              <a:t>12</a:t>
            </a:r>
            <a:endParaRPr lang="en-US" sz="4000" dirty="0"/>
          </a:p>
        </p:txBody>
      </p:sp>
      <p:sp>
        <p:nvSpPr>
          <p:cNvPr id="11" name="Text 9"/>
          <p:cNvSpPr/>
          <p:nvPr/>
        </p:nvSpPr>
        <p:spPr>
          <a:xfrm>
            <a:off x="9052560" y="3127248"/>
            <a:ext cx="2423160" cy="1234440"/>
          </a:xfrm>
          <a:prstGeom prst="rect">
            <a:avLst/>
          </a:prstGeom>
          <a:noFill/>
          <a:ln/>
        </p:spPr>
        <p:txBody>
          <a:bodyPr wrap="square" rtlCol="0" anchor="ctr"/>
          <a:lstStyle/>
          <a:p>
            <a:pPr indent="0" marL="0">
              <a:lnSpc>
                <a:spcPct val="115000"/>
              </a:lnSpc>
              <a:buNone/>
            </a:pPr>
            <a:r>
              <a:rPr lang="en-US" sz="1300" dirty="0">
                <a:solidFill>
                  <a:srgbClr val="D7DEEA"/>
                </a:solidFill>
                <a:latin typeface="Calibri" pitchFamily="34" charset="0"/>
                <a:ea typeface="Calibri" pitchFamily="34" charset="-122"/>
                <a:cs typeface="Calibri" pitchFamily="34" charset="-120"/>
              </a:rPr>
              <a:t>business questions to answer</a:t>
            </a:r>
            <a:endParaRPr lang="en-US" sz="1300" dirty="0"/>
          </a:p>
        </p:txBody>
      </p:sp>
      <p:sp>
        <p:nvSpPr>
          <p:cNvPr id="12" name="Shape 10"/>
          <p:cNvSpPr/>
          <p:nvPr/>
        </p:nvSpPr>
        <p:spPr>
          <a:xfrm>
            <a:off x="6720840" y="4608576"/>
            <a:ext cx="4892040" cy="1234440"/>
          </a:xfrm>
          <a:prstGeom prst="roundRect">
            <a:avLst>
              <a:gd name="adj" fmla="val 6667"/>
            </a:avLst>
          </a:prstGeom>
          <a:solidFill>
            <a:srgbClr val="21295C"/>
          </a:solidFill>
          <a:ln/>
        </p:spPr>
      </p:sp>
      <p:sp>
        <p:nvSpPr>
          <p:cNvPr id="13" name="Text 11"/>
          <p:cNvSpPr/>
          <p:nvPr/>
        </p:nvSpPr>
        <p:spPr>
          <a:xfrm>
            <a:off x="7040880" y="4718304"/>
            <a:ext cx="2011680" cy="822960"/>
          </a:xfrm>
          <a:prstGeom prst="rect">
            <a:avLst/>
          </a:prstGeom>
          <a:noFill/>
          <a:ln/>
        </p:spPr>
        <p:txBody>
          <a:bodyPr wrap="square" rtlCol="0" anchor="ctr"/>
          <a:lstStyle/>
          <a:p>
            <a:pPr indent="0" marL="0">
              <a:buNone/>
            </a:pPr>
            <a:r>
              <a:rPr lang="en-US" sz="4000" b="1" dirty="0">
                <a:solidFill>
                  <a:srgbClr val="5FB1BF"/>
                </a:solidFill>
                <a:latin typeface="Cambria" pitchFamily="34" charset="0"/>
                <a:ea typeface="Cambria" pitchFamily="34" charset="-122"/>
                <a:cs typeface="Cambria" pitchFamily="34" charset="-120"/>
              </a:rPr>
              <a:t>3</a:t>
            </a:r>
            <a:endParaRPr lang="en-US" sz="4000" dirty="0"/>
          </a:p>
        </p:txBody>
      </p:sp>
      <p:sp>
        <p:nvSpPr>
          <p:cNvPr id="14" name="Text 12"/>
          <p:cNvSpPr/>
          <p:nvPr/>
        </p:nvSpPr>
        <p:spPr>
          <a:xfrm>
            <a:off x="9052560" y="4608576"/>
            <a:ext cx="2423160" cy="1234440"/>
          </a:xfrm>
          <a:prstGeom prst="rect">
            <a:avLst/>
          </a:prstGeom>
          <a:noFill/>
          <a:ln/>
        </p:spPr>
        <p:txBody>
          <a:bodyPr wrap="square" rtlCol="0" anchor="ctr"/>
          <a:lstStyle/>
          <a:p>
            <a:pPr indent="0" marL="0">
              <a:lnSpc>
                <a:spcPct val="115000"/>
              </a:lnSpc>
              <a:buNone/>
            </a:pPr>
            <a:r>
              <a:rPr lang="en-US" sz="1300" dirty="0">
                <a:solidFill>
                  <a:srgbClr val="D7DEEA"/>
                </a:solidFill>
                <a:latin typeface="Calibri" pitchFamily="34" charset="0"/>
                <a:ea typeface="Calibri" pitchFamily="34" charset="-122"/>
                <a:cs typeface="Calibri" pitchFamily="34" charset="-120"/>
              </a:rPr>
              <a:t>technologies, 3 different jobs</a:t>
            </a:r>
            <a:endParaRPr lang="en-US" sz="1300" dirty="0"/>
          </a:p>
        </p:txBody>
      </p:sp>
      <p:sp>
        <p:nvSpPr>
          <p:cNvPr id="15" name="Text 13"/>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A7AFBD"/>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THE SHAPE OF THE SOLUTION</a:t>
            </a:r>
            <a:endParaRPr lang="en-US" sz="1250" dirty="0"/>
          </a:p>
        </p:txBody>
      </p:sp>
      <p:sp>
        <p:nvSpPr>
          <p:cNvPr id="3" name="Text 1"/>
          <p:cNvSpPr/>
          <p:nvPr/>
        </p:nvSpPr>
        <p:spPr>
          <a:xfrm>
            <a:off x="548640" y="658368"/>
            <a:ext cx="10789920" cy="822960"/>
          </a:xfrm>
          <a:prstGeom prst="rect">
            <a:avLst/>
          </a:prstGeom>
          <a:noFill/>
          <a:ln/>
        </p:spPr>
        <p:txBody>
          <a:bodyPr wrap="square" rtlCol="0" anchor="ctr"/>
          <a:lstStyle/>
          <a:p>
            <a:pPr indent="0" marL="0">
              <a:buNone/>
            </a:pPr>
            <a:r>
              <a:rPr lang="en-US" sz="3000" b="1" dirty="0">
                <a:solidFill>
                  <a:srgbClr val="1B1F2A"/>
                </a:solidFill>
                <a:latin typeface="Cambria" pitchFamily="34" charset="0"/>
                <a:ea typeface="Cambria" pitchFamily="34" charset="-122"/>
                <a:cs typeface="Cambria" pitchFamily="34" charset="-120"/>
              </a:rPr>
              <a:t>One pipeline, three jobs, three tools</a:t>
            </a:r>
            <a:endParaRPr lang="en-US" sz="3000" dirty="0"/>
          </a:p>
        </p:txBody>
      </p:sp>
      <p:sp>
        <p:nvSpPr>
          <p:cNvPr id="4" name="Shape 2"/>
          <p:cNvSpPr/>
          <p:nvPr/>
        </p:nvSpPr>
        <p:spPr>
          <a:xfrm>
            <a:off x="548640" y="1965960"/>
            <a:ext cx="3246120" cy="3383280"/>
          </a:xfrm>
          <a:prstGeom prst="roundRect">
            <a:avLst>
              <a:gd name="adj" fmla="val 2817"/>
            </a:avLst>
          </a:prstGeom>
          <a:solidFill>
            <a:srgbClr val="065A82"/>
          </a:solidFill>
          <a:ln/>
        </p:spPr>
      </p:sp>
      <p:sp>
        <p:nvSpPr>
          <p:cNvPr id="5" name="Shape 3"/>
          <p:cNvSpPr/>
          <p:nvPr/>
        </p:nvSpPr>
        <p:spPr>
          <a:xfrm>
            <a:off x="1760220" y="2331720"/>
            <a:ext cx="822960" cy="822960"/>
          </a:xfrm>
          <a:prstGeom prst="ellipse">
            <a:avLst/>
          </a:prstGeom>
          <a:solidFill>
            <a:srgbClr val="FFFFFF">
              <a:alpha val="25000"/>
            </a:srgbClr>
          </a:solidFill>
          <a:ln/>
        </p:spPr>
      </p:sp>
      <p:pic>
        <p:nvPicPr>
          <p:cNvPr id="6" name="Image 0" descr="preencoded.png">    </p:cNvPr>
          <p:cNvPicPr>
            <a:picLocks noChangeAspect="1"/>
          </p:cNvPicPr>
          <p:nvPr/>
        </p:nvPicPr>
        <p:blipFill>
          <a:blip r:embed="rId1"/>
          <a:stretch>
            <a:fillRect/>
          </a:stretch>
        </p:blipFill>
        <p:spPr>
          <a:xfrm>
            <a:off x="1974190" y="2545690"/>
            <a:ext cx="395021" cy="395021"/>
          </a:xfrm>
          <a:prstGeom prst="rect">
            <a:avLst/>
          </a:prstGeom>
        </p:spPr>
      </p:pic>
      <p:sp>
        <p:nvSpPr>
          <p:cNvPr id="7" name="Text 4"/>
          <p:cNvSpPr/>
          <p:nvPr/>
        </p:nvSpPr>
        <p:spPr>
          <a:xfrm>
            <a:off x="548640" y="3337560"/>
            <a:ext cx="3246120" cy="45720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KAFKA</a:t>
            </a:r>
            <a:endParaRPr lang="en-US" sz="2200" dirty="0"/>
          </a:p>
        </p:txBody>
      </p:sp>
      <p:sp>
        <p:nvSpPr>
          <p:cNvPr id="8" name="Text 5"/>
          <p:cNvSpPr/>
          <p:nvPr/>
        </p:nvSpPr>
        <p:spPr>
          <a:xfrm>
            <a:off x="548640" y="3794760"/>
            <a:ext cx="3246120" cy="320040"/>
          </a:xfrm>
          <a:prstGeom prst="rect">
            <a:avLst/>
          </a:prstGeom>
          <a:noFill/>
          <a:ln/>
        </p:spPr>
        <p:txBody>
          <a:bodyPr wrap="square" rtlCol="0" anchor="ctr"/>
          <a:lstStyle/>
          <a:p>
            <a:pPr algn="ctr" indent="0" marL="0">
              <a:buNone/>
            </a:pPr>
            <a:r>
              <a:rPr lang="en-US" sz="1250" i="1" dirty="0">
                <a:solidFill>
                  <a:srgbClr val="EDF0F5"/>
                </a:solidFill>
                <a:latin typeface="Calibri" pitchFamily="34" charset="0"/>
                <a:ea typeface="Calibri" pitchFamily="34" charset="-122"/>
                <a:cs typeface="Calibri" pitchFamily="34" charset="-120"/>
              </a:rPr>
              <a:t>Transport</a:t>
            </a:r>
            <a:endParaRPr lang="en-US" sz="1250" dirty="0"/>
          </a:p>
        </p:txBody>
      </p:sp>
      <p:sp>
        <p:nvSpPr>
          <p:cNvPr id="9" name="Text 6"/>
          <p:cNvSpPr/>
          <p:nvPr/>
        </p:nvSpPr>
        <p:spPr>
          <a:xfrm>
            <a:off x="868680" y="4251960"/>
            <a:ext cx="2606040" cy="1005840"/>
          </a:xfrm>
          <a:prstGeom prst="rect">
            <a:avLst/>
          </a:prstGeom>
          <a:noFill/>
          <a:ln/>
        </p:spPr>
        <p:txBody>
          <a:bodyPr wrap="square" rtlCol="0" anchor="ctr"/>
          <a:lstStyle/>
          <a:p>
            <a:pPr algn="ctr" indent="0" marL="0">
              <a:lnSpc>
                <a:spcPct val="125000"/>
              </a:lnSpc>
              <a:buNone/>
            </a:pPr>
            <a:r>
              <a:rPr lang="en-US" sz="1200" dirty="0">
                <a:solidFill>
                  <a:srgbClr val="F5F7FA"/>
                </a:solidFill>
                <a:latin typeface="Calibri" pitchFamily="34" charset="0"/>
                <a:ea typeface="Calibri" pitchFamily="34" charset="-122"/>
                <a:cs typeface="Calibri" pitchFamily="34" charset="-120"/>
              </a:rPr>
              <a:t>Moves data from stores to the processing layer, safely and continuously.</a:t>
            </a:r>
            <a:endParaRPr lang="en-US" sz="1200" dirty="0"/>
          </a:p>
        </p:txBody>
      </p:sp>
      <p:sp>
        <p:nvSpPr>
          <p:cNvPr id="10" name="Shape 7"/>
          <p:cNvSpPr/>
          <p:nvPr/>
        </p:nvSpPr>
        <p:spPr>
          <a:xfrm>
            <a:off x="3872484" y="3438144"/>
            <a:ext cx="438912" cy="438912"/>
          </a:xfrm>
          <a:prstGeom prst="ellipse">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3986601" y="3552261"/>
            <a:ext cx="210678" cy="210678"/>
          </a:xfrm>
          <a:prstGeom prst="rect">
            <a:avLst/>
          </a:prstGeom>
        </p:spPr>
      </p:pic>
      <p:sp>
        <p:nvSpPr>
          <p:cNvPr id="12" name="Shape 8"/>
          <p:cNvSpPr/>
          <p:nvPr/>
        </p:nvSpPr>
        <p:spPr>
          <a:xfrm>
            <a:off x="4389120" y="1965960"/>
            <a:ext cx="3246120" cy="3383280"/>
          </a:xfrm>
          <a:prstGeom prst="roundRect">
            <a:avLst>
              <a:gd name="adj" fmla="val 2817"/>
            </a:avLst>
          </a:prstGeom>
          <a:solidFill>
            <a:srgbClr val="1C7293"/>
          </a:solidFill>
          <a:ln/>
        </p:spPr>
      </p:sp>
      <p:sp>
        <p:nvSpPr>
          <p:cNvPr id="13" name="Shape 9"/>
          <p:cNvSpPr/>
          <p:nvPr/>
        </p:nvSpPr>
        <p:spPr>
          <a:xfrm>
            <a:off x="5600700" y="2331720"/>
            <a:ext cx="822960" cy="822960"/>
          </a:xfrm>
          <a:prstGeom prst="ellipse">
            <a:avLst/>
          </a:prstGeom>
          <a:solidFill>
            <a:srgbClr val="FFFFFF">
              <a:alpha val="25000"/>
            </a:srgbClr>
          </a:solidFill>
          <a:ln/>
        </p:spPr>
      </p:sp>
      <p:pic>
        <p:nvPicPr>
          <p:cNvPr id="14" name="Image 2" descr="preencoded.png">    </p:cNvPr>
          <p:cNvPicPr>
            <a:picLocks noChangeAspect="1"/>
          </p:cNvPicPr>
          <p:nvPr/>
        </p:nvPicPr>
        <p:blipFill>
          <a:blip r:embed="rId3"/>
          <a:stretch>
            <a:fillRect/>
          </a:stretch>
        </p:blipFill>
        <p:spPr>
          <a:xfrm>
            <a:off x="5814670" y="2545690"/>
            <a:ext cx="395021" cy="395021"/>
          </a:xfrm>
          <a:prstGeom prst="rect">
            <a:avLst/>
          </a:prstGeom>
        </p:spPr>
      </p:pic>
      <p:sp>
        <p:nvSpPr>
          <p:cNvPr id="15" name="Text 10"/>
          <p:cNvSpPr/>
          <p:nvPr/>
        </p:nvSpPr>
        <p:spPr>
          <a:xfrm>
            <a:off x="4389120" y="3337560"/>
            <a:ext cx="3246120" cy="45720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SPARK</a:t>
            </a:r>
            <a:endParaRPr lang="en-US" sz="2200" dirty="0"/>
          </a:p>
        </p:txBody>
      </p:sp>
      <p:sp>
        <p:nvSpPr>
          <p:cNvPr id="16" name="Text 11"/>
          <p:cNvSpPr/>
          <p:nvPr/>
        </p:nvSpPr>
        <p:spPr>
          <a:xfrm>
            <a:off x="4389120" y="3794760"/>
            <a:ext cx="3246120" cy="320040"/>
          </a:xfrm>
          <a:prstGeom prst="rect">
            <a:avLst/>
          </a:prstGeom>
          <a:noFill/>
          <a:ln/>
        </p:spPr>
        <p:txBody>
          <a:bodyPr wrap="square" rtlCol="0" anchor="ctr"/>
          <a:lstStyle/>
          <a:p>
            <a:pPr algn="ctr" indent="0" marL="0">
              <a:buNone/>
            </a:pPr>
            <a:r>
              <a:rPr lang="en-US" sz="1250" i="1" dirty="0">
                <a:solidFill>
                  <a:srgbClr val="EDF0F5"/>
                </a:solidFill>
                <a:latin typeface="Calibri" pitchFamily="34" charset="0"/>
                <a:ea typeface="Calibri" pitchFamily="34" charset="-122"/>
                <a:cs typeface="Calibri" pitchFamily="34" charset="-120"/>
              </a:rPr>
              <a:t>Compute</a:t>
            </a:r>
            <a:endParaRPr lang="en-US" sz="1250" dirty="0"/>
          </a:p>
        </p:txBody>
      </p:sp>
      <p:sp>
        <p:nvSpPr>
          <p:cNvPr id="17" name="Text 12"/>
          <p:cNvSpPr/>
          <p:nvPr/>
        </p:nvSpPr>
        <p:spPr>
          <a:xfrm>
            <a:off x="4709160" y="4251960"/>
            <a:ext cx="2606040" cy="1005840"/>
          </a:xfrm>
          <a:prstGeom prst="rect">
            <a:avLst/>
          </a:prstGeom>
          <a:noFill/>
          <a:ln/>
        </p:spPr>
        <p:txBody>
          <a:bodyPr wrap="square" rtlCol="0" anchor="ctr"/>
          <a:lstStyle/>
          <a:p>
            <a:pPr algn="ctr" indent="0" marL="0">
              <a:lnSpc>
                <a:spcPct val="125000"/>
              </a:lnSpc>
              <a:buNone/>
            </a:pPr>
            <a:r>
              <a:rPr lang="en-US" sz="1200" dirty="0">
                <a:solidFill>
                  <a:srgbClr val="F5F7FA"/>
                </a:solidFill>
                <a:latin typeface="Calibri" pitchFamily="34" charset="0"/>
                <a:ea typeface="Calibri" pitchFamily="34" charset="-122"/>
                <a:cs typeface="Calibri" pitchFamily="34" charset="-120"/>
              </a:rPr>
              <a:t>Cleans, types, and analyzes the data — split across many machines.</a:t>
            </a:r>
            <a:endParaRPr lang="en-US" sz="1200" dirty="0"/>
          </a:p>
        </p:txBody>
      </p:sp>
      <p:sp>
        <p:nvSpPr>
          <p:cNvPr id="18" name="Shape 13"/>
          <p:cNvSpPr/>
          <p:nvPr/>
        </p:nvSpPr>
        <p:spPr>
          <a:xfrm>
            <a:off x="7712964" y="3438144"/>
            <a:ext cx="438912" cy="438912"/>
          </a:xfrm>
          <a:prstGeom prst="ellipse">
            <a:avLst/>
          </a:prstGeom>
          <a:solidFill>
            <a:srgbClr val="FFFFFF"/>
          </a:solidFill>
          <a:ln/>
        </p:spPr>
      </p:sp>
      <p:pic>
        <p:nvPicPr>
          <p:cNvPr id="19" name="Image 3" descr="preencoded.png">    </p:cNvPr>
          <p:cNvPicPr>
            <a:picLocks noChangeAspect="1"/>
          </p:cNvPicPr>
          <p:nvPr/>
        </p:nvPicPr>
        <p:blipFill>
          <a:blip r:embed="rId4"/>
          <a:stretch>
            <a:fillRect/>
          </a:stretch>
        </p:blipFill>
        <p:spPr>
          <a:xfrm>
            <a:off x="7827081" y="3552261"/>
            <a:ext cx="210678" cy="210678"/>
          </a:xfrm>
          <a:prstGeom prst="rect">
            <a:avLst/>
          </a:prstGeom>
        </p:spPr>
      </p:pic>
      <p:sp>
        <p:nvSpPr>
          <p:cNvPr id="20" name="Shape 14"/>
          <p:cNvSpPr/>
          <p:nvPr/>
        </p:nvSpPr>
        <p:spPr>
          <a:xfrm>
            <a:off x="8229600" y="1965960"/>
            <a:ext cx="3246120" cy="3383280"/>
          </a:xfrm>
          <a:prstGeom prst="roundRect">
            <a:avLst>
              <a:gd name="adj" fmla="val 2817"/>
            </a:avLst>
          </a:prstGeom>
          <a:solidFill>
            <a:srgbClr val="3E7CA6"/>
          </a:solidFill>
          <a:ln/>
        </p:spPr>
      </p:sp>
      <p:sp>
        <p:nvSpPr>
          <p:cNvPr id="21" name="Shape 15"/>
          <p:cNvSpPr/>
          <p:nvPr/>
        </p:nvSpPr>
        <p:spPr>
          <a:xfrm>
            <a:off x="9441180" y="2331720"/>
            <a:ext cx="822960" cy="822960"/>
          </a:xfrm>
          <a:prstGeom prst="ellipse">
            <a:avLst/>
          </a:prstGeom>
          <a:solidFill>
            <a:srgbClr val="FFFFFF">
              <a:alpha val="25000"/>
            </a:srgbClr>
          </a:solidFill>
          <a:ln/>
        </p:spPr>
      </p:sp>
      <p:pic>
        <p:nvPicPr>
          <p:cNvPr id="22" name="Image 4" descr="preencoded.png">    </p:cNvPr>
          <p:cNvPicPr>
            <a:picLocks noChangeAspect="1"/>
          </p:cNvPicPr>
          <p:nvPr/>
        </p:nvPicPr>
        <p:blipFill>
          <a:blip r:embed="rId5"/>
          <a:stretch>
            <a:fillRect/>
          </a:stretch>
        </p:blipFill>
        <p:spPr>
          <a:xfrm>
            <a:off x="9655150" y="2545690"/>
            <a:ext cx="395021" cy="395021"/>
          </a:xfrm>
          <a:prstGeom prst="rect">
            <a:avLst/>
          </a:prstGeom>
        </p:spPr>
      </p:pic>
      <p:sp>
        <p:nvSpPr>
          <p:cNvPr id="23" name="Text 16"/>
          <p:cNvSpPr/>
          <p:nvPr/>
        </p:nvSpPr>
        <p:spPr>
          <a:xfrm>
            <a:off x="8229600" y="3337560"/>
            <a:ext cx="3246120" cy="45720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HIVE</a:t>
            </a:r>
            <a:endParaRPr lang="en-US" sz="2200" dirty="0"/>
          </a:p>
        </p:txBody>
      </p:sp>
      <p:sp>
        <p:nvSpPr>
          <p:cNvPr id="24" name="Text 17"/>
          <p:cNvSpPr/>
          <p:nvPr/>
        </p:nvSpPr>
        <p:spPr>
          <a:xfrm>
            <a:off x="8229600" y="3794760"/>
            <a:ext cx="3246120" cy="320040"/>
          </a:xfrm>
          <a:prstGeom prst="rect">
            <a:avLst/>
          </a:prstGeom>
          <a:noFill/>
          <a:ln/>
        </p:spPr>
        <p:txBody>
          <a:bodyPr wrap="square" rtlCol="0" anchor="ctr"/>
          <a:lstStyle/>
          <a:p>
            <a:pPr algn="ctr" indent="0" marL="0">
              <a:buNone/>
            </a:pPr>
            <a:r>
              <a:rPr lang="en-US" sz="1250" i="1" dirty="0">
                <a:solidFill>
                  <a:srgbClr val="EDF0F5"/>
                </a:solidFill>
                <a:latin typeface="Calibri" pitchFamily="34" charset="0"/>
                <a:ea typeface="Calibri" pitchFamily="34" charset="-122"/>
                <a:cs typeface="Calibri" pitchFamily="34" charset="-120"/>
              </a:rPr>
              <a:t>Serve</a:t>
            </a:r>
            <a:endParaRPr lang="en-US" sz="1250" dirty="0"/>
          </a:p>
        </p:txBody>
      </p:sp>
      <p:sp>
        <p:nvSpPr>
          <p:cNvPr id="25" name="Text 18"/>
          <p:cNvSpPr/>
          <p:nvPr/>
        </p:nvSpPr>
        <p:spPr>
          <a:xfrm>
            <a:off x="8549640" y="4251960"/>
            <a:ext cx="2606040" cy="1005840"/>
          </a:xfrm>
          <a:prstGeom prst="rect">
            <a:avLst/>
          </a:prstGeom>
          <a:noFill/>
          <a:ln/>
        </p:spPr>
        <p:txBody>
          <a:bodyPr wrap="square" rtlCol="0" anchor="ctr"/>
          <a:lstStyle/>
          <a:p>
            <a:pPr algn="ctr" indent="0" marL="0">
              <a:lnSpc>
                <a:spcPct val="125000"/>
              </a:lnSpc>
              <a:buNone/>
            </a:pPr>
            <a:r>
              <a:rPr lang="en-US" sz="1200" dirty="0">
                <a:solidFill>
                  <a:srgbClr val="F5F7FA"/>
                </a:solidFill>
                <a:latin typeface="Calibri" pitchFamily="34" charset="0"/>
                <a:ea typeface="Calibri" pitchFamily="34" charset="-122"/>
                <a:cs typeface="Calibri" pitchFamily="34" charset="-120"/>
              </a:rPr>
              <a:t>Makes the results queryable as ordinary SQL tables.</a:t>
            </a:r>
            <a:endParaRPr lang="en-US" sz="1200" dirty="0"/>
          </a:p>
        </p:txBody>
      </p:sp>
      <p:sp>
        <p:nvSpPr>
          <p:cNvPr id="26" name="Text 19"/>
          <p:cNvSpPr/>
          <p:nvPr/>
        </p:nvSpPr>
        <p:spPr>
          <a:xfrm>
            <a:off x="548640" y="5623560"/>
            <a:ext cx="11064240" cy="457200"/>
          </a:xfrm>
          <a:prstGeom prst="rect">
            <a:avLst/>
          </a:prstGeom>
          <a:noFill/>
          <a:ln/>
        </p:spPr>
        <p:txBody>
          <a:bodyPr wrap="square" rtlCol="0" anchor="ctr"/>
          <a:lstStyle/>
          <a:p>
            <a:pPr algn="ctr" indent="0" marL="0">
              <a:buNone/>
            </a:pPr>
            <a:r>
              <a:rPr lang="en-US" sz="1350" i="1" dirty="0">
                <a:solidFill>
                  <a:srgbClr val="5B6472"/>
                </a:solidFill>
                <a:latin typeface="Calibri" pitchFamily="34" charset="0"/>
                <a:ea typeface="Calibri" pitchFamily="34" charset="-122"/>
                <a:cs typeface="Calibri" pitchFamily="34" charset="-120"/>
              </a:rPr>
              <a:t>Each tool does exactly one job and does it well. None of them can replace the others.</a:t>
            </a:r>
            <a:endParaRPr lang="en-US" sz="1350" dirty="0"/>
          </a:p>
        </p:txBody>
      </p:sp>
      <p:sp>
        <p:nvSpPr>
          <p:cNvPr id="27" name="Text 20"/>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A7AFBD"/>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STAGE 1 — TRANSPORT</a:t>
            </a:r>
            <a:endParaRPr lang="en-US" sz="1250" dirty="0"/>
          </a:p>
        </p:txBody>
      </p:sp>
      <p:sp>
        <p:nvSpPr>
          <p:cNvPr id="3" name="Text 1"/>
          <p:cNvSpPr/>
          <p:nvPr/>
        </p:nvSpPr>
        <p:spPr>
          <a:xfrm>
            <a:off x="548640" y="658368"/>
            <a:ext cx="10789920" cy="822960"/>
          </a:xfrm>
          <a:prstGeom prst="rect">
            <a:avLst/>
          </a:prstGeom>
          <a:noFill/>
          <a:ln/>
        </p:spPr>
        <p:txBody>
          <a:bodyPr wrap="square" rtlCol="0" anchor="ctr"/>
          <a:lstStyle/>
          <a:p>
            <a:pPr indent="0" marL="0">
              <a:buNone/>
            </a:pPr>
            <a:r>
              <a:rPr lang="en-US" sz="3000" b="1" dirty="0">
                <a:solidFill>
                  <a:srgbClr val="1B1F2A"/>
                </a:solidFill>
                <a:latin typeface="Cambria" pitchFamily="34" charset="0"/>
                <a:ea typeface="Cambria" pitchFamily="34" charset="-122"/>
                <a:cs typeface="Cambria" pitchFamily="34" charset="-120"/>
              </a:rPr>
              <a:t>Kafka: the delivery truck</a:t>
            </a:r>
            <a:endParaRPr lang="en-US" sz="3000" dirty="0"/>
          </a:p>
        </p:txBody>
      </p:sp>
      <p:sp>
        <p:nvSpPr>
          <p:cNvPr id="4" name="Shape 2"/>
          <p:cNvSpPr/>
          <p:nvPr/>
        </p:nvSpPr>
        <p:spPr>
          <a:xfrm>
            <a:off x="548640" y="1691640"/>
            <a:ext cx="777240" cy="777240"/>
          </a:xfrm>
          <a:prstGeom prst="ellipse">
            <a:avLst/>
          </a:prstGeom>
          <a:solidFill>
            <a:srgbClr val="065A82"/>
          </a:solidFill>
          <a:ln/>
        </p:spPr>
      </p:sp>
      <p:pic>
        <p:nvPicPr>
          <p:cNvPr id="5" name="Image 0" descr="preencoded.png">    </p:cNvPr>
          <p:cNvPicPr>
            <a:picLocks noChangeAspect="1"/>
          </p:cNvPicPr>
          <p:nvPr/>
        </p:nvPicPr>
        <p:blipFill>
          <a:blip r:embed="rId1"/>
          <a:stretch>
            <a:fillRect/>
          </a:stretch>
        </p:blipFill>
        <p:spPr>
          <a:xfrm>
            <a:off x="750722" y="1893722"/>
            <a:ext cx="373075" cy="373075"/>
          </a:xfrm>
          <a:prstGeom prst="rect">
            <a:avLst/>
          </a:prstGeom>
        </p:spPr>
      </p:pic>
      <p:sp>
        <p:nvSpPr>
          <p:cNvPr id="6" name="Text 3"/>
          <p:cNvSpPr/>
          <p:nvPr/>
        </p:nvSpPr>
        <p:spPr>
          <a:xfrm>
            <a:off x="1600200" y="1645920"/>
            <a:ext cx="9966960" cy="914400"/>
          </a:xfrm>
          <a:prstGeom prst="rect">
            <a:avLst/>
          </a:prstGeom>
          <a:noFill/>
          <a:ln/>
        </p:spPr>
        <p:txBody>
          <a:bodyPr wrap="square" rtlCol="0" anchor="ctr"/>
          <a:lstStyle/>
          <a:p>
            <a:pPr indent="0" marL="0">
              <a:lnSpc>
                <a:spcPct val="125000"/>
              </a:lnSpc>
              <a:buNone/>
            </a:pPr>
            <a:r>
              <a:rPr lang="en-US" sz="1450" dirty="0">
                <a:solidFill>
                  <a:srgbClr val="1B1F2A"/>
                </a:solidFill>
                <a:latin typeface="Calibri" pitchFamily="34" charset="0"/>
                <a:ea typeface="Calibri" pitchFamily="34" charset="-122"/>
                <a:cs typeface="Calibri" pitchFamily="34" charset="-120"/>
              </a:rPr>
              <a:t>If every store wrote sales straight into one database, that database becomes a single point of failure — and every new team that wants the data (fraud, marketing, analytics) means reconfiguring 1,948 stores.</a:t>
            </a:r>
            <a:endParaRPr lang="en-US" sz="1450" dirty="0"/>
          </a:p>
        </p:txBody>
      </p:sp>
      <p:sp>
        <p:nvSpPr>
          <p:cNvPr id="7" name="Text 4"/>
          <p:cNvSpPr/>
          <p:nvPr/>
        </p:nvSpPr>
        <p:spPr>
          <a:xfrm>
            <a:off x="1600200" y="2606040"/>
            <a:ext cx="9966960" cy="914400"/>
          </a:xfrm>
          <a:prstGeom prst="rect">
            <a:avLst/>
          </a:prstGeom>
          <a:noFill/>
          <a:ln/>
        </p:spPr>
        <p:txBody>
          <a:bodyPr wrap="square" rtlCol="0" anchor="ctr"/>
          <a:lstStyle/>
          <a:p>
            <a:pPr indent="0" marL="0">
              <a:lnSpc>
                <a:spcPct val="125000"/>
              </a:lnSpc>
              <a:buNone/>
            </a:pPr>
            <a:r>
              <a:rPr lang="en-US" sz="1450" dirty="0">
                <a:solidFill>
                  <a:srgbClr val="1B1F2A"/>
                </a:solidFill>
                <a:latin typeface="Calibri" pitchFamily="34" charset="0"/>
                <a:ea typeface="Calibri" pitchFamily="34" charset="-122"/>
                <a:cs typeface="Calibri" pitchFamily="34" charset="-120"/>
              </a:rPr>
              <a:t>Kafka is a durable, append-only log. Stores write into it (producers); anyone can read from it (consumers) — without the writer needing to know who's reading, or how many.</a:t>
            </a:r>
            <a:endParaRPr lang="en-US" sz="1450" dirty="0"/>
          </a:p>
        </p:txBody>
      </p:sp>
      <p:sp>
        <p:nvSpPr>
          <p:cNvPr id="8" name="Shape 5"/>
          <p:cNvSpPr/>
          <p:nvPr/>
        </p:nvSpPr>
        <p:spPr>
          <a:xfrm>
            <a:off x="548640" y="3794760"/>
            <a:ext cx="11109960" cy="2103120"/>
          </a:xfrm>
          <a:prstGeom prst="roundRect">
            <a:avLst>
              <a:gd name="adj" fmla="val 4348"/>
            </a:avLst>
          </a:prstGeom>
          <a:solidFill>
            <a:srgbClr val="21295C"/>
          </a:solidFill>
          <a:ln/>
        </p:spPr>
      </p:sp>
      <p:sp>
        <p:nvSpPr>
          <p:cNvPr id="9" name="Shape 6"/>
          <p:cNvSpPr/>
          <p:nvPr/>
        </p:nvSpPr>
        <p:spPr>
          <a:xfrm>
            <a:off x="868680" y="4114800"/>
            <a:ext cx="502920" cy="502920"/>
          </a:xfrm>
          <a:prstGeom prst="ellipse">
            <a:avLst/>
          </a:prstGeom>
          <a:solidFill>
            <a:srgbClr val="1C7293"/>
          </a:solidFill>
          <a:ln/>
        </p:spPr>
      </p:sp>
      <p:pic>
        <p:nvPicPr>
          <p:cNvPr id="10" name="Image 1" descr="preencoded.png">    </p:cNvPr>
          <p:cNvPicPr>
            <a:picLocks noChangeAspect="1"/>
          </p:cNvPicPr>
          <p:nvPr/>
        </p:nvPicPr>
        <p:blipFill>
          <a:blip r:embed="rId2"/>
          <a:stretch>
            <a:fillRect/>
          </a:stretch>
        </p:blipFill>
        <p:spPr>
          <a:xfrm>
            <a:off x="999439" y="4245559"/>
            <a:ext cx="241402" cy="241402"/>
          </a:xfrm>
          <a:prstGeom prst="rect">
            <a:avLst/>
          </a:prstGeom>
        </p:spPr>
      </p:pic>
      <p:sp>
        <p:nvSpPr>
          <p:cNvPr id="11" name="Text 7"/>
          <p:cNvSpPr/>
          <p:nvPr/>
        </p:nvSpPr>
        <p:spPr>
          <a:xfrm>
            <a:off x="1554480" y="4114800"/>
            <a:ext cx="91440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superpower: replay</a:t>
            </a:r>
            <a:endParaRPr lang="en-US" sz="1500" dirty="0"/>
          </a:p>
        </p:txBody>
      </p:sp>
      <p:sp>
        <p:nvSpPr>
          <p:cNvPr id="12" name="Text 8"/>
          <p:cNvSpPr/>
          <p:nvPr/>
        </p:nvSpPr>
        <p:spPr>
          <a:xfrm>
            <a:off x="1554480" y="4526280"/>
            <a:ext cx="9601200" cy="1280160"/>
          </a:xfrm>
          <a:prstGeom prst="rect">
            <a:avLst/>
          </a:prstGeom>
          <a:noFill/>
          <a:ln/>
        </p:spPr>
        <p:txBody>
          <a:bodyPr wrap="square" rtlCol="0" anchor="ctr"/>
          <a:lstStyle/>
          <a:p>
            <a:pPr indent="0" marL="0">
              <a:lnSpc>
                <a:spcPct val="130000"/>
              </a:lnSpc>
              <a:buNone/>
            </a:pPr>
            <a:r>
              <a:rPr lang="en-US" sz="1300" dirty="0">
                <a:solidFill>
                  <a:srgbClr val="D7DEEA"/>
                </a:solidFill>
                <a:latin typeface="Calibri" pitchFamily="34" charset="0"/>
                <a:ea typeface="Calibri" pitchFamily="34" charset="-122"/>
                <a:cs typeface="Calibri" pitchFamily="34" charset="-120"/>
              </a:rPr>
              <a:t>A normal queue deletes a message once it's read. Kafka keeps it for days, even after consumers have read it. If a downstream job has a bug and writes garbage for three days, you fix the bug and replay — nothing is lost. That's not possible with a traditional queue.</a:t>
            </a:r>
            <a:endParaRPr lang="en-US" sz="1300" dirty="0"/>
          </a:p>
        </p:txBody>
      </p:sp>
      <p:sp>
        <p:nvSpPr>
          <p:cNvPr id="13" name="Text 9"/>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A7AFBD"/>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VOCABULARY YOU'LL SEE IN THE CODE</a:t>
            </a:r>
            <a:endParaRPr lang="en-US" sz="1250" dirty="0"/>
          </a:p>
        </p:txBody>
      </p:sp>
      <p:sp>
        <p:nvSpPr>
          <p:cNvPr id="3" name="Text 1"/>
          <p:cNvSpPr/>
          <p:nvPr/>
        </p:nvSpPr>
        <p:spPr>
          <a:xfrm>
            <a:off x="548640" y="658368"/>
            <a:ext cx="10789920" cy="822960"/>
          </a:xfrm>
          <a:prstGeom prst="rect">
            <a:avLst/>
          </a:prstGeom>
          <a:noFill/>
          <a:ln/>
        </p:spPr>
        <p:txBody>
          <a:bodyPr wrap="square" rtlCol="0" anchor="ctr"/>
          <a:lstStyle/>
          <a:p>
            <a:pPr indent="0" marL="0">
              <a:buNone/>
            </a:pPr>
            <a:r>
              <a:rPr lang="en-US" sz="3000" b="1" dirty="0">
                <a:solidFill>
                  <a:srgbClr val="1B1F2A"/>
                </a:solidFill>
                <a:latin typeface="Cambria" pitchFamily="34" charset="0"/>
                <a:ea typeface="Cambria" pitchFamily="34" charset="-122"/>
                <a:cs typeface="Cambria" pitchFamily="34" charset="-120"/>
              </a:rPr>
              <a:t>Five Kafka terms, plainly</a:t>
            </a:r>
            <a:endParaRPr lang="en-US" sz="3000" dirty="0"/>
          </a:p>
        </p:txBody>
      </p:sp>
      <p:sp>
        <p:nvSpPr>
          <p:cNvPr id="4" name="Shape 2"/>
          <p:cNvSpPr/>
          <p:nvPr/>
        </p:nvSpPr>
        <p:spPr>
          <a:xfrm>
            <a:off x="548640" y="1600200"/>
            <a:ext cx="5349240" cy="1298448"/>
          </a:xfrm>
          <a:prstGeom prst="roundRect">
            <a:avLst>
              <a:gd name="adj" fmla="val 5634"/>
            </a:avLst>
          </a:prstGeom>
          <a:solidFill>
            <a:srgbClr val="F4F7FA"/>
          </a:solidFill>
          <a:ln/>
        </p:spPr>
      </p:sp>
      <p:sp>
        <p:nvSpPr>
          <p:cNvPr id="5" name="Text 3"/>
          <p:cNvSpPr/>
          <p:nvPr/>
        </p:nvSpPr>
        <p:spPr>
          <a:xfrm>
            <a:off x="804672" y="1709928"/>
            <a:ext cx="4837176" cy="365760"/>
          </a:xfrm>
          <a:prstGeom prst="rect">
            <a:avLst/>
          </a:prstGeom>
          <a:noFill/>
          <a:ln/>
        </p:spPr>
        <p:txBody>
          <a:bodyPr wrap="square"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Topic</a:t>
            </a:r>
            <a:endParaRPr lang="en-US" sz="1400" dirty="0"/>
          </a:p>
        </p:txBody>
      </p:sp>
      <p:sp>
        <p:nvSpPr>
          <p:cNvPr id="6" name="Text 4"/>
          <p:cNvSpPr/>
          <p:nvPr/>
        </p:nvSpPr>
        <p:spPr>
          <a:xfrm>
            <a:off x="804672" y="2075688"/>
            <a:ext cx="4837176" cy="777240"/>
          </a:xfrm>
          <a:prstGeom prst="rect">
            <a:avLst/>
          </a:prstGeom>
          <a:noFill/>
          <a:ln/>
        </p:spPr>
        <p:txBody>
          <a:bodyPr wrap="square" rtlCol="0" anchor="ctr"/>
          <a:lstStyle/>
          <a:p>
            <a:pPr indent="0" marL="0">
              <a:lnSpc>
                <a:spcPct val="120000"/>
              </a:lnSpc>
              <a:buNone/>
            </a:pPr>
            <a:r>
              <a:rPr lang="en-US" sz="1150" dirty="0">
                <a:solidFill>
                  <a:srgbClr val="1B1F2A"/>
                </a:solidFill>
                <a:latin typeface="Calibri" pitchFamily="34" charset="0"/>
                <a:ea typeface="Calibri" pitchFamily="34" charset="-122"/>
                <a:cs typeface="Calibri" pitchFamily="34" charset="-120"/>
              </a:rPr>
              <a:t>A named stream — like a table name, but for events. Ours is called target_orders.</a:t>
            </a:r>
            <a:endParaRPr lang="en-US" sz="1150" dirty="0"/>
          </a:p>
        </p:txBody>
      </p:sp>
      <p:sp>
        <p:nvSpPr>
          <p:cNvPr id="7" name="Shape 5"/>
          <p:cNvSpPr/>
          <p:nvPr/>
        </p:nvSpPr>
        <p:spPr>
          <a:xfrm>
            <a:off x="6217920" y="1600200"/>
            <a:ext cx="5349240" cy="1298448"/>
          </a:xfrm>
          <a:prstGeom prst="roundRect">
            <a:avLst>
              <a:gd name="adj" fmla="val 5634"/>
            </a:avLst>
          </a:prstGeom>
          <a:solidFill>
            <a:srgbClr val="F4F7FA"/>
          </a:solidFill>
          <a:ln/>
        </p:spPr>
      </p:sp>
      <p:sp>
        <p:nvSpPr>
          <p:cNvPr id="8" name="Text 6"/>
          <p:cNvSpPr/>
          <p:nvPr/>
        </p:nvSpPr>
        <p:spPr>
          <a:xfrm>
            <a:off x="6473952" y="1709928"/>
            <a:ext cx="4837176" cy="365760"/>
          </a:xfrm>
          <a:prstGeom prst="rect">
            <a:avLst/>
          </a:prstGeom>
          <a:noFill/>
          <a:ln/>
        </p:spPr>
        <p:txBody>
          <a:bodyPr wrap="square"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Partition</a:t>
            </a:r>
            <a:endParaRPr lang="en-US" sz="1400" dirty="0"/>
          </a:p>
        </p:txBody>
      </p:sp>
      <p:sp>
        <p:nvSpPr>
          <p:cNvPr id="9" name="Text 7"/>
          <p:cNvSpPr/>
          <p:nvPr/>
        </p:nvSpPr>
        <p:spPr>
          <a:xfrm>
            <a:off x="6473952" y="2075688"/>
            <a:ext cx="4837176" cy="777240"/>
          </a:xfrm>
          <a:prstGeom prst="rect">
            <a:avLst/>
          </a:prstGeom>
          <a:noFill/>
          <a:ln/>
        </p:spPr>
        <p:txBody>
          <a:bodyPr wrap="square" rtlCol="0" anchor="ctr"/>
          <a:lstStyle/>
          <a:p>
            <a:pPr indent="0" marL="0">
              <a:lnSpc>
                <a:spcPct val="120000"/>
              </a:lnSpc>
              <a:buNone/>
            </a:pPr>
            <a:r>
              <a:rPr lang="en-US" sz="1150" dirty="0">
                <a:solidFill>
                  <a:srgbClr val="1B1F2A"/>
                </a:solidFill>
                <a:latin typeface="Calibri" pitchFamily="34" charset="0"/>
                <a:ea typeface="Calibri" pitchFamily="34" charset="-122"/>
                <a:cs typeface="Calibri" pitchFamily="34" charset="-120"/>
              </a:rPr>
              <a:t>A topic split into ordered lanes so multiple machines can work at once. Order is only guaranteed within one lane.</a:t>
            </a:r>
            <a:endParaRPr lang="en-US" sz="1150" dirty="0"/>
          </a:p>
        </p:txBody>
      </p:sp>
      <p:sp>
        <p:nvSpPr>
          <p:cNvPr id="10" name="Shape 8"/>
          <p:cNvSpPr/>
          <p:nvPr/>
        </p:nvSpPr>
        <p:spPr>
          <a:xfrm>
            <a:off x="548640" y="3099816"/>
            <a:ext cx="5349240" cy="1298448"/>
          </a:xfrm>
          <a:prstGeom prst="roundRect">
            <a:avLst>
              <a:gd name="adj" fmla="val 5634"/>
            </a:avLst>
          </a:prstGeom>
          <a:solidFill>
            <a:srgbClr val="F4F7FA"/>
          </a:solidFill>
          <a:ln/>
        </p:spPr>
      </p:sp>
      <p:sp>
        <p:nvSpPr>
          <p:cNvPr id="11" name="Text 9"/>
          <p:cNvSpPr/>
          <p:nvPr/>
        </p:nvSpPr>
        <p:spPr>
          <a:xfrm>
            <a:off x="804672" y="3209544"/>
            <a:ext cx="4837176" cy="365760"/>
          </a:xfrm>
          <a:prstGeom prst="rect">
            <a:avLst/>
          </a:prstGeom>
          <a:noFill/>
          <a:ln/>
        </p:spPr>
        <p:txBody>
          <a:bodyPr wrap="square"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Producer / Consumer</a:t>
            </a:r>
            <a:endParaRPr lang="en-US" sz="1400" dirty="0"/>
          </a:p>
        </p:txBody>
      </p:sp>
      <p:sp>
        <p:nvSpPr>
          <p:cNvPr id="12" name="Text 10"/>
          <p:cNvSpPr/>
          <p:nvPr/>
        </p:nvSpPr>
        <p:spPr>
          <a:xfrm>
            <a:off x="804672" y="3575304"/>
            <a:ext cx="4837176" cy="777240"/>
          </a:xfrm>
          <a:prstGeom prst="rect">
            <a:avLst/>
          </a:prstGeom>
          <a:noFill/>
          <a:ln/>
        </p:spPr>
        <p:txBody>
          <a:bodyPr wrap="square" rtlCol="0" anchor="ctr"/>
          <a:lstStyle/>
          <a:p>
            <a:pPr indent="0" marL="0">
              <a:lnSpc>
                <a:spcPct val="120000"/>
              </a:lnSpc>
              <a:buNone/>
            </a:pPr>
            <a:r>
              <a:rPr lang="en-US" sz="1150" dirty="0">
                <a:solidFill>
                  <a:srgbClr val="1B1F2A"/>
                </a:solidFill>
                <a:latin typeface="Calibri" pitchFamily="34" charset="0"/>
                <a:ea typeface="Calibri" pitchFamily="34" charset="-122"/>
                <a:cs typeface="Calibri" pitchFamily="34" charset="-120"/>
              </a:rPr>
              <a:t>The writer and the reader. Neither needs to know the other exists.</a:t>
            </a:r>
            <a:endParaRPr lang="en-US" sz="1150" dirty="0"/>
          </a:p>
        </p:txBody>
      </p:sp>
      <p:sp>
        <p:nvSpPr>
          <p:cNvPr id="13" name="Shape 11"/>
          <p:cNvSpPr/>
          <p:nvPr/>
        </p:nvSpPr>
        <p:spPr>
          <a:xfrm>
            <a:off x="6217920" y="3099816"/>
            <a:ext cx="5349240" cy="1298448"/>
          </a:xfrm>
          <a:prstGeom prst="roundRect">
            <a:avLst>
              <a:gd name="adj" fmla="val 5634"/>
            </a:avLst>
          </a:prstGeom>
          <a:solidFill>
            <a:srgbClr val="F4F7FA"/>
          </a:solidFill>
          <a:ln/>
        </p:spPr>
      </p:sp>
      <p:sp>
        <p:nvSpPr>
          <p:cNvPr id="14" name="Text 12"/>
          <p:cNvSpPr/>
          <p:nvPr/>
        </p:nvSpPr>
        <p:spPr>
          <a:xfrm>
            <a:off x="6473952" y="3209544"/>
            <a:ext cx="4837176" cy="365760"/>
          </a:xfrm>
          <a:prstGeom prst="rect">
            <a:avLst/>
          </a:prstGeom>
          <a:noFill/>
          <a:ln/>
        </p:spPr>
        <p:txBody>
          <a:bodyPr wrap="square"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Offset</a:t>
            </a:r>
            <a:endParaRPr lang="en-US" sz="1400" dirty="0"/>
          </a:p>
        </p:txBody>
      </p:sp>
      <p:sp>
        <p:nvSpPr>
          <p:cNvPr id="15" name="Text 13"/>
          <p:cNvSpPr/>
          <p:nvPr/>
        </p:nvSpPr>
        <p:spPr>
          <a:xfrm>
            <a:off x="6473952" y="3575304"/>
            <a:ext cx="4837176" cy="777240"/>
          </a:xfrm>
          <a:prstGeom prst="rect">
            <a:avLst/>
          </a:prstGeom>
          <a:noFill/>
          <a:ln/>
        </p:spPr>
        <p:txBody>
          <a:bodyPr wrap="square" rtlCol="0" anchor="ctr"/>
          <a:lstStyle/>
          <a:p>
            <a:pPr indent="0" marL="0">
              <a:lnSpc>
                <a:spcPct val="120000"/>
              </a:lnSpc>
              <a:buNone/>
            </a:pPr>
            <a:r>
              <a:rPr lang="en-US" sz="1150" dirty="0">
                <a:solidFill>
                  <a:srgbClr val="1B1F2A"/>
                </a:solidFill>
                <a:latin typeface="Calibri" pitchFamily="34" charset="0"/>
                <a:ea typeface="Calibri" pitchFamily="34" charset="-122"/>
                <a:cs typeface="Calibri" pitchFamily="34" charset="-120"/>
              </a:rPr>
              <a:t>A bookmark — "I've read up to message #4,812." Lets a crashed reader resume exactly where it stopped.</a:t>
            </a:r>
            <a:endParaRPr lang="en-US" sz="1150" dirty="0"/>
          </a:p>
        </p:txBody>
      </p:sp>
      <p:sp>
        <p:nvSpPr>
          <p:cNvPr id="16" name="Shape 14"/>
          <p:cNvSpPr/>
          <p:nvPr/>
        </p:nvSpPr>
        <p:spPr>
          <a:xfrm>
            <a:off x="548640" y="4599432"/>
            <a:ext cx="5349240" cy="1298448"/>
          </a:xfrm>
          <a:prstGeom prst="roundRect">
            <a:avLst>
              <a:gd name="adj" fmla="val 5634"/>
            </a:avLst>
          </a:prstGeom>
          <a:solidFill>
            <a:srgbClr val="F4F7FA"/>
          </a:solidFill>
          <a:ln/>
        </p:spPr>
      </p:sp>
      <p:sp>
        <p:nvSpPr>
          <p:cNvPr id="17" name="Text 15"/>
          <p:cNvSpPr/>
          <p:nvPr/>
        </p:nvSpPr>
        <p:spPr>
          <a:xfrm>
            <a:off x="804672" y="4709160"/>
            <a:ext cx="4837176" cy="365760"/>
          </a:xfrm>
          <a:prstGeom prst="rect">
            <a:avLst/>
          </a:prstGeom>
          <a:noFill/>
          <a:ln/>
        </p:spPr>
        <p:txBody>
          <a:bodyPr wrap="square"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Consumer group</a:t>
            </a:r>
            <a:endParaRPr lang="en-US" sz="1400" dirty="0"/>
          </a:p>
        </p:txBody>
      </p:sp>
      <p:sp>
        <p:nvSpPr>
          <p:cNvPr id="18" name="Text 16"/>
          <p:cNvSpPr/>
          <p:nvPr/>
        </p:nvSpPr>
        <p:spPr>
          <a:xfrm>
            <a:off x="804672" y="5074920"/>
            <a:ext cx="4837176" cy="777240"/>
          </a:xfrm>
          <a:prstGeom prst="rect">
            <a:avLst/>
          </a:prstGeom>
          <a:noFill/>
          <a:ln/>
        </p:spPr>
        <p:txBody>
          <a:bodyPr wrap="square" rtlCol="0" anchor="ctr"/>
          <a:lstStyle/>
          <a:p>
            <a:pPr indent="0" marL="0">
              <a:lnSpc>
                <a:spcPct val="120000"/>
              </a:lnSpc>
              <a:buNone/>
            </a:pPr>
            <a:r>
              <a:rPr lang="en-US" sz="1150" dirty="0">
                <a:solidFill>
                  <a:srgbClr val="1B1F2A"/>
                </a:solidFill>
                <a:latin typeface="Calibri" pitchFamily="34" charset="0"/>
                <a:ea typeface="Calibri" pitchFamily="34" charset="-122"/>
                <a:cs typeface="Calibri" pitchFamily="34" charset="-120"/>
              </a:rPr>
              <a:t>A team of readers sharing the work. Kafka hands each partition to exactly one member.</a:t>
            </a:r>
            <a:endParaRPr lang="en-US" sz="1150" dirty="0"/>
          </a:p>
        </p:txBody>
      </p:sp>
      <p:sp>
        <p:nvSpPr>
          <p:cNvPr id="19" name="Shape 17"/>
          <p:cNvSpPr/>
          <p:nvPr/>
        </p:nvSpPr>
        <p:spPr>
          <a:xfrm>
            <a:off x="6217920" y="4599432"/>
            <a:ext cx="5349240" cy="1298448"/>
          </a:xfrm>
          <a:prstGeom prst="roundRect">
            <a:avLst>
              <a:gd name="adj" fmla="val 5634"/>
            </a:avLst>
          </a:prstGeom>
          <a:solidFill>
            <a:srgbClr val="F4F7FA"/>
          </a:solidFill>
          <a:ln/>
        </p:spPr>
      </p:sp>
      <p:sp>
        <p:nvSpPr>
          <p:cNvPr id="20" name="Text 18"/>
          <p:cNvSpPr/>
          <p:nvPr/>
        </p:nvSpPr>
        <p:spPr>
          <a:xfrm>
            <a:off x="6473952" y="4709160"/>
            <a:ext cx="4837176" cy="365760"/>
          </a:xfrm>
          <a:prstGeom prst="rect">
            <a:avLst/>
          </a:prstGeom>
          <a:noFill/>
          <a:ln/>
        </p:spPr>
        <p:txBody>
          <a:bodyPr wrap="square"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acks=all</a:t>
            </a:r>
            <a:endParaRPr lang="en-US" sz="1400" dirty="0"/>
          </a:p>
        </p:txBody>
      </p:sp>
      <p:sp>
        <p:nvSpPr>
          <p:cNvPr id="21" name="Text 19"/>
          <p:cNvSpPr/>
          <p:nvPr/>
        </p:nvSpPr>
        <p:spPr>
          <a:xfrm>
            <a:off x="6473952" y="5074920"/>
            <a:ext cx="4837176" cy="777240"/>
          </a:xfrm>
          <a:prstGeom prst="rect">
            <a:avLst/>
          </a:prstGeom>
          <a:noFill/>
          <a:ln/>
        </p:spPr>
        <p:txBody>
          <a:bodyPr wrap="square" rtlCol="0" anchor="ctr"/>
          <a:lstStyle/>
          <a:p>
            <a:pPr indent="0" marL="0">
              <a:lnSpc>
                <a:spcPct val="120000"/>
              </a:lnSpc>
              <a:buNone/>
            </a:pPr>
            <a:r>
              <a:rPr lang="en-US" sz="1150" dirty="0">
                <a:solidFill>
                  <a:srgbClr val="1B1F2A"/>
                </a:solidFill>
                <a:latin typeface="Calibri" pitchFamily="34" charset="0"/>
                <a:ea typeface="Calibri" pitchFamily="34" charset="-122"/>
                <a:cs typeface="Calibri" pitchFamily="34" charset="-120"/>
              </a:rPr>
              <a:t>Don't call a write successful until it's safely replicated. Slower, but nothing gets lost.</a:t>
            </a:r>
            <a:endParaRPr lang="en-US" sz="1150" dirty="0"/>
          </a:p>
        </p:txBody>
      </p:sp>
      <p:sp>
        <p:nvSpPr>
          <p:cNvPr id="22" name="Text 20"/>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A7AFBD"/>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STAGE 2 — COMPUTE</a:t>
            </a:r>
            <a:endParaRPr lang="en-US" sz="1250" dirty="0"/>
          </a:p>
        </p:txBody>
      </p:sp>
      <p:sp>
        <p:nvSpPr>
          <p:cNvPr id="3" name="Text 1"/>
          <p:cNvSpPr/>
          <p:nvPr/>
        </p:nvSpPr>
        <p:spPr>
          <a:xfrm>
            <a:off x="548640" y="658368"/>
            <a:ext cx="10789920" cy="822960"/>
          </a:xfrm>
          <a:prstGeom prst="rect">
            <a:avLst/>
          </a:prstGeom>
          <a:noFill/>
          <a:ln/>
        </p:spPr>
        <p:txBody>
          <a:bodyPr wrap="square" rtlCol="0" anchor="ctr"/>
          <a:lstStyle/>
          <a:p>
            <a:pPr indent="0" marL="0">
              <a:buNone/>
            </a:pPr>
            <a:r>
              <a:rPr lang="en-US" sz="3000" b="1" dirty="0">
                <a:solidFill>
                  <a:srgbClr val="1B1F2A"/>
                </a:solidFill>
                <a:latin typeface="Cambria" pitchFamily="34" charset="0"/>
                <a:ea typeface="Cambria" pitchFamily="34" charset="-122"/>
                <a:cs typeface="Cambria" pitchFamily="34" charset="-120"/>
              </a:rPr>
              <a:t>Spark: the workforce</a:t>
            </a:r>
            <a:endParaRPr lang="en-US" sz="3000" dirty="0"/>
          </a:p>
        </p:txBody>
      </p:sp>
      <p:sp>
        <p:nvSpPr>
          <p:cNvPr id="4" name="Text 2"/>
          <p:cNvSpPr/>
          <p:nvPr/>
        </p:nvSpPr>
        <p:spPr>
          <a:xfrm>
            <a:off x="548640" y="1600200"/>
            <a:ext cx="5394960" cy="1371600"/>
          </a:xfrm>
          <a:prstGeom prst="rect">
            <a:avLst/>
          </a:prstGeom>
          <a:noFill/>
          <a:ln/>
        </p:spPr>
        <p:txBody>
          <a:bodyPr wrap="square" rtlCol="0" anchor="ctr"/>
          <a:lstStyle/>
          <a:p>
            <a:pPr indent="0" marL="0">
              <a:lnSpc>
                <a:spcPct val="130000"/>
              </a:lnSpc>
              <a:buNone/>
            </a:pPr>
            <a:r>
              <a:rPr lang="en-US" sz="1400" dirty="0">
                <a:solidFill>
                  <a:srgbClr val="1B1F2A"/>
                </a:solidFill>
                <a:latin typeface="Calibri" pitchFamily="34" charset="0"/>
                <a:ea typeface="Calibri" pitchFamily="34" charset="-122"/>
                <a:cs typeface="Calibri" pitchFamily="34" charset="-120"/>
              </a:rPr>
              <a:t>Pandas loads everything into one machine's memory. At 200GB, it simply dies. Spark splits the data into chunks, ships your code to many machines, and runs it on all of them at once.</a:t>
            </a:r>
            <a:endParaRPr lang="en-US" sz="1400" dirty="0"/>
          </a:p>
        </p:txBody>
      </p:sp>
      <p:sp>
        <p:nvSpPr>
          <p:cNvPr id="5" name="Shape 3"/>
          <p:cNvSpPr/>
          <p:nvPr/>
        </p:nvSpPr>
        <p:spPr>
          <a:xfrm>
            <a:off x="548640" y="3063240"/>
            <a:ext cx="5394960" cy="2880360"/>
          </a:xfrm>
          <a:prstGeom prst="roundRect">
            <a:avLst>
              <a:gd name="adj" fmla="val 3175"/>
            </a:avLst>
          </a:prstGeom>
          <a:solidFill>
            <a:srgbClr val="F4F7FA"/>
          </a:solidFill>
          <a:ln/>
        </p:spPr>
      </p:sp>
      <p:sp>
        <p:nvSpPr>
          <p:cNvPr id="6" name="Text 4"/>
          <p:cNvSpPr/>
          <p:nvPr/>
        </p:nvSpPr>
        <p:spPr>
          <a:xfrm>
            <a:off x="822960" y="3246120"/>
            <a:ext cx="4846320" cy="365760"/>
          </a:xfrm>
          <a:prstGeom prst="rect">
            <a:avLst/>
          </a:prstGeom>
          <a:noFill/>
          <a:ln/>
        </p:spPr>
        <p:txBody>
          <a:bodyPr wrap="square" rtlCol="0" anchor="ctr"/>
          <a:lstStyle/>
          <a:p>
            <a:pPr indent="0" marL="0">
              <a:buNone/>
            </a:pPr>
            <a:r>
              <a:rPr lang="en-US" sz="1450" b="1" dirty="0">
                <a:solidFill>
                  <a:srgbClr val="065A82"/>
                </a:solidFill>
                <a:latin typeface="Calibri" pitchFamily="34" charset="0"/>
                <a:ea typeface="Calibri" pitchFamily="34" charset="-122"/>
                <a:cs typeface="Calibri" pitchFamily="34" charset="-120"/>
              </a:rPr>
              <a:t>Lazy evaluation</a:t>
            </a:r>
            <a:endParaRPr lang="en-US" sz="1450" dirty="0"/>
          </a:p>
        </p:txBody>
      </p:sp>
      <p:sp>
        <p:nvSpPr>
          <p:cNvPr id="7" name="Text 5"/>
          <p:cNvSpPr/>
          <p:nvPr/>
        </p:nvSpPr>
        <p:spPr>
          <a:xfrm>
            <a:off x="822960" y="3657600"/>
            <a:ext cx="4846320" cy="2148840"/>
          </a:xfrm>
          <a:prstGeom prst="rect">
            <a:avLst/>
          </a:prstGeom>
          <a:noFill/>
          <a:ln/>
        </p:spPr>
        <p:txBody>
          <a:bodyPr wrap="square" rtlCol="0" anchor="ctr"/>
          <a:lstStyle/>
          <a:p>
            <a:pPr indent="0" marL="0">
              <a:lnSpc>
                <a:spcPct val="130000"/>
              </a:lnSpc>
              <a:buNone/>
            </a:pPr>
            <a:r>
              <a:rPr lang="en-US" sz="1250" dirty="0">
                <a:solidFill>
                  <a:srgbClr val="1B1F2A"/>
                </a:solidFill>
                <a:latin typeface="Calibri" pitchFamily="34" charset="0"/>
                <a:ea typeface="Calibri" pitchFamily="34" charset="-122"/>
                <a:cs typeface="Calibri" pitchFamily="34" charset="-120"/>
              </a:rPr>
              <a:t>filter(), groupBy(), select() don't run immediately — Spark just writes down your intent. Only an action (show, count, write) triggers execution. Because Spark sees your whole plan first, it can reorder it — filtering before aggregating, for example — automatically.</a:t>
            </a:r>
            <a:endParaRPr lang="en-US" sz="1250" dirty="0"/>
          </a:p>
        </p:txBody>
      </p:sp>
      <p:sp>
        <p:nvSpPr>
          <p:cNvPr id="8" name="Shape 6"/>
          <p:cNvSpPr/>
          <p:nvPr/>
        </p:nvSpPr>
        <p:spPr>
          <a:xfrm>
            <a:off x="6263640" y="1600200"/>
            <a:ext cx="5394960" cy="4343400"/>
          </a:xfrm>
          <a:prstGeom prst="roundRect">
            <a:avLst>
              <a:gd name="adj" fmla="val 2105"/>
            </a:avLst>
          </a:prstGeom>
          <a:solidFill>
            <a:srgbClr val="21295C"/>
          </a:solidFill>
          <a:ln/>
        </p:spPr>
      </p:sp>
      <p:sp>
        <p:nvSpPr>
          <p:cNvPr id="9" name="Shape 7"/>
          <p:cNvSpPr/>
          <p:nvPr/>
        </p:nvSpPr>
        <p:spPr>
          <a:xfrm>
            <a:off x="6537960" y="1874520"/>
            <a:ext cx="502920" cy="502920"/>
          </a:xfrm>
          <a:prstGeom prst="ellipse">
            <a:avLst/>
          </a:prstGeom>
          <a:solidFill>
            <a:srgbClr val="1C7293"/>
          </a:solidFill>
          <a:ln/>
        </p:spPr>
      </p:sp>
      <p:pic>
        <p:nvPicPr>
          <p:cNvPr id="10" name="Image 0" descr="preencoded.png">    </p:cNvPr>
          <p:cNvPicPr>
            <a:picLocks noChangeAspect="1"/>
          </p:cNvPicPr>
          <p:nvPr/>
        </p:nvPicPr>
        <p:blipFill>
          <a:blip r:embed="rId1"/>
          <a:stretch>
            <a:fillRect/>
          </a:stretch>
        </p:blipFill>
        <p:spPr>
          <a:xfrm>
            <a:off x="6668719" y="2005279"/>
            <a:ext cx="241402" cy="241402"/>
          </a:xfrm>
          <a:prstGeom prst="rect">
            <a:avLst/>
          </a:prstGeom>
        </p:spPr>
      </p:pic>
      <p:sp>
        <p:nvSpPr>
          <p:cNvPr id="11" name="Text 8"/>
          <p:cNvSpPr/>
          <p:nvPr/>
        </p:nvSpPr>
        <p:spPr>
          <a:xfrm>
            <a:off x="7223760" y="1874520"/>
            <a:ext cx="4206240" cy="50292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The expensive operation: shuffle</a:t>
            </a:r>
            <a:endParaRPr lang="en-US" sz="1450" dirty="0"/>
          </a:p>
        </p:txBody>
      </p:sp>
      <p:sp>
        <p:nvSpPr>
          <p:cNvPr id="12" name="Text 9"/>
          <p:cNvSpPr/>
          <p:nvPr/>
        </p:nvSpPr>
        <p:spPr>
          <a:xfrm>
            <a:off x="6537960" y="2514600"/>
            <a:ext cx="4846320" cy="1371600"/>
          </a:xfrm>
          <a:prstGeom prst="rect">
            <a:avLst/>
          </a:prstGeom>
          <a:noFill/>
          <a:ln/>
        </p:spPr>
        <p:txBody>
          <a:bodyPr wrap="square" rtlCol="0" anchor="ctr"/>
          <a:lstStyle/>
          <a:p>
            <a:pPr indent="0" marL="0">
              <a:lnSpc>
                <a:spcPct val="130000"/>
              </a:lnSpc>
              <a:buNone/>
            </a:pPr>
            <a:r>
              <a:rPr lang="en-US" sz="1250" dirty="0">
                <a:solidFill>
                  <a:srgbClr val="D7DEEA"/>
                </a:solidFill>
                <a:latin typeface="Calibri" pitchFamily="34" charset="0"/>
                <a:ea typeface="Calibri" pitchFamily="34" charset="-122"/>
                <a:cs typeface="Calibri" pitchFamily="34" charset="-120"/>
              </a:rPr>
              <a:t>groupBy("customer_city") needs every row for "Dallas" on the same machine — that means moving data across the network. That movement is a shuffle, and it's almost always why a Spark job is slow.</a:t>
            </a:r>
            <a:endParaRPr lang="en-US" sz="1250" dirty="0"/>
          </a:p>
        </p:txBody>
      </p:sp>
      <p:sp>
        <p:nvSpPr>
          <p:cNvPr id="13" name="Text 10"/>
          <p:cNvSpPr/>
          <p:nvPr/>
        </p:nvSpPr>
        <p:spPr>
          <a:xfrm>
            <a:off x="6537960" y="3977640"/>
            <a:ext cx="4846320" cy="320040"/>
          </a:xfrm>
          <a:prstGeom prst="rect">
            <a:avLst/>
          </a:prstGeom>
          <a:noFill/>
          <a:ln/>
        </p:spPr>
        <p:txBody>
          <a:bodyPr wrap="square" rtlCol="0" anchor="ctr"/>
          <a:lstStyle/>
          <a:p>
            <a:pPr indent="0" marL="0">
              <a:buNone/>
            </a:pPr>
            <a:r>
              <a:rPr lang="en-US" sz="1200" b="1" dirty="0">
                <a:solidFill>
                  <a:srgbClr val="5FB1BF"/>
                </a:solidFill>
                <a:latin typeface="Calibri" pitchFamily="34" charset="0"/>
                <a:ea typeface="Calibri" pitchFamily="34" charset="-122"/>
                <a:cs typeface="Calibri" pitchFamily="34" charset="-120"/>
              </a:rPr>
              <a:t>Narrow (fast, no movement)</a:t>
            </a:r>
            <a:endParaRPr lang="en-US" sz="1200" dirty="0"/>
          </a:p>
        </p:txBody>
      </p:sp>
      <p:sp>
        <p:nvSpPr>
          <p:cNvPr id="14" name="Text 11"/>
          <p:cNvSpPr/>
          <p:nvPr/>
        </p:nvSpPr>
        <p:spPr>
          <a:xfrm>
            <a:off x="6537960" y="4279392"/>
            <a:ext cx="4846320" cy="320040"/>
          </a:xfrm>
          <a:prstGeom prst="rect">
            <a:avLst/>
          </a:prstGeom>
          <a:noFill/>
          <a:ln/>
        </p:spPr>
        <p:txBody>
          <a:bodyPr wrap="square" rtlCol="0" anchor="ctr"/>
          <a:lstStyle/>
          <a:p>
            <a:pPr indent="0" marL="0">
              <a:buNone/>
            </a:pPr>
            <a:r>
              <a:rPr lang="en-US" sz="1200" dirty="0">
                <a:solidFill>
                  <a:srgbClr val="C9D3E0"/>
                </a:solidFill>
                <a:latin typeface="Calibri" pitchFamily="34" charset="0"/>
                <a:ea typeface="Calibri" pitchFamily="34" charset="-122"/>
                <a:cs typeface="Calibri" pitchFamily="34" charset="-120"/>
              </a:rPr>
              <a:t>filter · select · withColumn</a:t>
            </a:r>
            <a:endParaRPr lang="en-US" sz="1200" dirty="0"/>
          </a:p>
        </p:txBody>
      </p:sp>
      <p:sp>
        <p:nvSpPr>
          <p:cNvPr id="15" name="Text 12"/>
          <p:cNvSpPr/>
          <p:nvPr/>
        </p:nvSpPr>
        <p:spPr>
          <a:xfrm>
            <a:off x="6537960" y="4709160"/>
            <a:ext cx="4846320" cy="320040"/>
          </a:xfrm>
          <a:prstGeom prst="rect">
            <a:avLst/>
          </a:prstGeom>
          <a:noFill/>
          <a:ln/>
        </p:spPr>
        <p:txBody>
          <a:bodyPr wrap="square" rtlCol="0" anchor="ctr"/>
          <a:lstStyle/>
          <a:p>
            <a:pPr indent="0" marL="0">
              <a:buNone/>
            </a:pPr>
            <a:r>
              <a:rPr lang="en-US" sz="1200" b="1" dirty="0">
                <a:solidFill>
                  <a:srgbClr val="5FB1BF"/>
                </a:solidFill>
                <a:latin typeface="Calibri" pitchFamily="34" charset="0"/>
                <a:ea typeface="Calibri" pitchFamily="34" charset="-122"/>
                <a:cs typeface="Calibri" pitchFamily="34" charset="-120"/>
              </a:rPr>
              <a:t>Wide (slow, shuffle)</a:t>
            </a:r>
            <a:endParaRPr lang="en-US" sz="1200" dirty="0"/>
          </a:p>
        </p:txBody>
      </p:sp>
      <p:sp>
        <p:nvSpPr>
          <p:cNvPr id="16" name="Text 13"/>
          <p:cNvSpPr/>
          <p:nvPr/>
        </p:nvSpPr>
        <p:spPr>
          <a:xfrm>
            <a:off x="6537960" y="5010912"/>
            <a:ext cx="4846320" cy="320040"/>
          </a:xfrm>
          <a:prstGeom prst="rect">
            <a:avLst/>
          </a:prstGeom>
          <a:noFill/>
          <a:ln/>
        </p:spPr>
        <p:txBody>
          <a:bodyPr wrap="square" rtlCol="0" anchor="ctr"/>
          <a:lstStyle/>
          <a:p>
            <a:pPr indent="0" marL="0">
              <a:buNone/>
            </a:pPr>
            <a:r>
              <a:rPr lang="en-US" sz="1200" dirty="0">
                <a:solidFill>
                  <a:srgbClr val="C9D3E0"/>
                </a:solidFill>
                <a:latin typeface="Calibri" pitchFamily="34" charset="0"/>
                <a:ea typeface="Calibri" pitchFamily="34" charset="-122"/>
                <a:cs typeface="Calibri" pitchFamily="34" charset="-120"/>
              </a:rPr>
              <a:t>groupBy · join · distinct · orderBy</a:t>
            </a:r>
            <a:endParaRPr lang="en-US" sz="1200" dirty="0"/>
          </a:p>
        </p:txBody>
      </p:sp>
      <p:sp>
        <p:nvSpPr>
          <p:cNvPr id="17" name="Text 14"/>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A7AFBD"/>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A REAL BUG WE HIT WHILE BUILDING THIS</a:t>
            </a:r>
            <a:endParaRPr lang="en-US" sz="1250" dirty="0"/>
          </a:p>
        </p:txBody>
      </p:sp>
      <p:sp>
        <p:nvSpPr>
          <p:cNvPr id="3" name="Text 1"/>
          <p:cNvSpPr/>
          <p:nvPr/>
        </p:nvSpPr>
        <p:spPr>
          <a:xfrm>
            <a:off x="548640" y="658368"/>
            <a:ext cx="10789920" cy="822960"/>
          </a:xfrm>
          <a:prstGeom prst="rect">
            <a:avLst/>
          </a:prstGeom>
          <a:noFill/>
          <a:ln/>
        </p:spPr>
        <p:txBody>
          <a:bodyPr wrap="square" rtlCol="0" anchor="ctr"/>
          <a:lstStyle/>
          <a:p>
            <a:pPr indent="0" marL="0">
              <a:buNone/>
            </a:pPr>
            <a:r>
              <a:rPr lang="en-US" sz="3000" b="1" dirty="0">
                <a:solidFill>
                  <a:srgbClr val="1B1F2A"/>
                </a:solidFill>
                <a:latin typeface="Cambria" pitchFamily="34" charset="0"/>
                <a:ea typeface="Cambria" pitchFamily="34" charset="-122"/>
                <a:cs typeface="Cambria" pitchFamily="34" charset="-120"/>
              </a:rPr>
              <a:t>"nan" is not the same as null</a:t>
            </a:r>
            <a:endParaRPr lang="en-US" sz="3000" dirty="0"/>
          </a:p>
        </p:txBody>
      </p:sp>
      <p:sp>
        <p:nvSpPr>
          <p:cNvPr id="4" name="Text 2"/>
          <p:cNvSpPr/>
          <p:nvPr/>
        </p:nvSpPr>
        <p:spPr>
          <a:xfrm>
            <a:off x="548640" y="1645920"/>
            <a:ext cx="7315200" cy="365760"/>
          </a:xfrm>
          <a:prstGeom prst="rect">
            <a:avLst/>
          </a:prstGeom>
          <a:noFill/>
          <a:ln/>
        </p:spPr>
        <p:txBody>
          <a:bodyPr wrap="square"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The chain of events:</a:t>
            </a:r>
            <a:endParaRPr lang="en-US" sz="1400" dirty="0"/>
          </a:p>
        </p:txBody>
      </p:sp>
      <p:sp>
        <p:nvSpPr>
          <p:cNvPr id="5" name="Shape 3"/>
          <p:cNvSpPr/>
          <p:nvPr/>
        </p:nvSpPr>
        <p:spPr>
          <a:xfrm>
            <a:off x="548640" y="2103120"/>
            <a:ext cx="11064240" cy="777240"/>
          </a:xfrm>
          <a:prstGeom prst="roundRect">
            <a:avLst>
              <a:gd name="adj" fmla="val 9412"/>
            </a:avLst>
          </a:prstGeom>
          <a:solidFill>
            <a:srgbClr val="F4F7FA"/>
          </a:solidFill>
          <a:ln/>
        </p:spPr>
      </p:sp>
      <p:sp>
        <p:nvSpPr>
          <p:cNvPr id="6" name="Shape 4"/>
          <p:cNvSpPr/>
          <p:nvPr/>
        </p:nvSpPr>
        <p:spPr>
          <a:xfrm>
            <a:off x="777240" y="2286000"/>
            <a:ext cx="411480" cy="411480"/>
          </a:xfrm>
          <a:prstGeom prst="ellipse">
            <a:avLst/>
          </a:prstGeom>
          <a:solidFill>
            <a:srgbClr val="1C7293"/>
          </a:solidFill>
          <a:ln/>
        </p:spPr>
      </p:sp>
      <p:sp>
        <p:nvSpPr>
          <p:cNvPr id="7" name="Text 5"/>
          <p:cNvSpPr/>
          <p:nvPr/>
        </p:nvSpPr>
        <p:spPr>
          <a:xfrm>
            <a:off x="777240" y="2286000"/>
            <a:ext cx="41148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371600" y="2103120"/>
            <a:ext cx="1920240" cy="777240"/>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pandas</a:t>
            </a:r>
            <a:endParaRPr lang="en-US" sz="1300" dirty="0"/>
          </a:p>
        </p:txBody>
      </p:sp>
      <p:sp>
        <p:nvSpPr>
          <p:cNvPr id="9" name="Text 7"/>
          <p:cNvSpPr/>
          <p:nvPr/>
        </p:nvSpPr>
        <p:spPr>
          <a:xfrm>
            <a:off x="3337560" y="2103120"/>
            <a:ext cx="8138160" cy="777240"/>
          </a:xfrm>
          <a:prstGeom prst="rect">
            <a:avLst/>
          </a:prstGeom>
          <a:noFill/>
          <a:ln/>
        </p:spPr>
        <p:txBody>
          <a:bodyPr wrap="square" rtlCol="0" anchor="ctr"/>
          <a:lstStyle/>
          <a:p>
            <a:pPr indent="0" marL="0">
              <a:lnSpc>
                <a:spcPct val="115000"/>
              </a:lnSpc>
              <a:buNone/>
            </a:pPr>
            <a:r>
              <a:rPr lang="en-US" sz="1250" dirty="0">
                <a:solidFill>
                  <a:srgbClr val="1B1F2A"/>
                </a:solidFill>
                <a:latin typeface="Calibri" pitchFamily="34" charset="0"/>
                <a:ea typeface="Calibri" pitchFamily="34" charset="-122"/>
                <a:cs typeface="Calibri" pitchFamily="34" charset="-120"/>
              </a:rPr>
              <a:t>A missing value is stored as NaN — a float, not a true null.</a:t>
            </a:r>
            <a:endParaRPr lang="en-US" sz="1250" dirty="0"/>
          </a:p>
        </p:txBody>
      </p:sp>
      <p:sp>
        <p:nvSpPr>
          <p:cNvPr id="10" name="Shape 8"/>
          <p:cNvSpPr/>
          <p:nvPr/>
        </p:nvSpPr>
        <p:spPr>
          <a:xfrm>
            <a:off x="548640" y="3017520"/>
            <a:ext cx="11064240" cy="777240"/>
          </a:xfrm>
          <a:prstGeom prst="roundRect">
            <a:avLst>
              <a:gd name="adj" fmla="val 9412"/>
            </a:avLst>
          </a:prstGeom>
          <a:solidFill>
            <a:srgbClr val="F4F7FA"/>
          </a:solidFill>
          <a:ln/>
        </p:spPr>
      </p:sp>
      <p:sp>
        <p:nvSpPr>
          <p:cNvPr id="11" name="Shape 9"/>
          <p:cNvSpPr/>
          <p:nvPr/>
        </p:nvSpPr>
        <p:spPr>
          <a:xfrm>
            <a:off x="777240" y="3200400"/>
            <a:ext cx="411480" cy="411480"/>
          </a:xfrm>
          <a:prstGeom prst="ellipse">
            <a:avLst/>
          </a:prstGeom>
          <a:solidFill>
            <a:srgbClr val="1C7293"/>
          </a:solidFill>
          <a:ln/>
        </p:spPr>
      </p:sp>
      <p:sp>
        <p:nvSpPr>
          <p:cNvPr id="12" name="Text 10"/>
          <p:cNvSpPr/>
          <p:nvPr/>
        </p:nvSpPr>
        <p:spPr>
          <a:xfrm>
            <a:off x="777240" y="3200400"/>
            <a:ext cx="41148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1371600" y="3017520"/>
            <a:ext cx="1920240" cy="777240"/>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json.dumps</a:t>
            </a:r>
            <a:endParaRPr lang="en-US" sz="1300" dirty="0"/>
          </a:p>
        </p:txBody>
      </p:sp>
      <p:sp>
        <p:nvSpPr>
          <p:cNvPr id="14" name="Text 12"/>
          <p:cNvSpPr/>
          <p:nvPr/>
        </p:nvSpPr>
        <p:spPr>
          <a:xfrm>
            <a:off x="3337560" y="3017520"/>
            <a:ext cx="8138160" cy="777240"/>
          </a:xfrm>
          <a:prstGeom prst="rect">
            <a:avLst/>
          </a:prstGeom>
          <a:noFill/>
          <a:ln/>
        </p:spPr>
        <p:txBody>
          <a:bodyPr wrap="square" rtlCol="0" anchor="ctr"/>
          <a:lstStyle/>
          <a:p>
            <a:pPr indent="0" marL="0">
              <a:lnSpc>
                <a:spcPct val="115000"/>
              </a:lnSpc>
              <a:buNone/>
            </a:pPr>
            <a:r>
              <a:rPr lang="en-US" sz="1250" dirty="0">
                <a:solidFill>
                  <a:srgbClr val="1B1F2A"/>
                </a:solidFill>
                <a:latin typeface="Calibri" pitchFamily="34" charset="0"/>
                <a:ea typeface="Calibri" pitchFamily="34" charset="-122"/>
                <a:cs typeface="Calibri" pitchFamily="34" charset="-120"/>
              </a:rPr>
              <a:t>Serializes it as the bare token NaN — which isn't even legal JSON.</a:t>
            </a:r>
            <a:endParaRPr lang="en-US" sz="1250" dirty="0"/>
          </a:p>
        </p:txBody>
      </p:sp>
      <p:sp>
        <p:nvSpPr>
          <p:cNvPr id="15" name="Shape 13"/>
          <p:cNvSpPr/>
          <p:nvPr/>
        </p:nvSpPr>
        <p:spPr>
          <a:xfrm>
            <a:off x="548640" y="3931920"/>
            <a:ext cx="11064240" cy="777240"/>
          </a:xfrm>
          <a:prstGeom prst="roundRect">
            <a:avLst>
              <a:gd name="adj" fmla="val 9412"/>
            </a:avLst>
          </a:prstGeom>
          <a:solidFill>
            <a:srgbClr val="F4F7FA"/>
          </a:solidFill>
          <a:ln/>
        </p:spPr>
      </p:sp>
      <p:sp>
        <p:nvSpPr>
          <p:cNvPr id="16" name="Shape 14"/>
          <p:cNvSpPr/>
          <p:nvPr/>
        </p:nvSpPr>
        <p:spPr>
          <a:xfrm>
            <a:off x="777240" y="4114800"/>
            <a:ext cx="411480" cy="411480"/>
          </a:xfrm>
          <a:prstGeom prst="ellipse">
            <a:avLst/>
          </a:prstGeom>
          <a:solidFill>
            <a:srgbClr val="1C7293"/>
          </a:solidFill>
          <a:ln/>
        </p:spPr>
      </p:sp>
      <p:sp>
        <p:nvSpPr>
          <p:cNvPr id="17" name="Text 15"/>
          <p:cNvSpPr/>
          <p:nvPr/>
        </p:nvSpPr>
        <p:spPr>
          <a:xfrm>
            <a:off x="777240" y="4114800"/>
            <a:ext cx="41148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1371600" y="3931920"/>
            <a:ext cx="1920240" cy="777240"/>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Kafka consumer</a:t>
            </a:r>
            <a:endParaRPr lang="en-US" sz="1300" dirty="0"/>
          </a:p>
        </p:txBody>
      </p:sp>
      <p:sp>
        <p:nvSpPr>
          <p:cNvPr id="19" name="Text 17"/>
          <p:cNvSpPr/>
          <p:nvPr/>
        </p:nvSpPr>
        <p:spPr>
          <a:xfrm>
            <a:off x="3337560" y="3931920"/>
            <a:ext cx="8138160" cy="777240"/>
          </a:xfrm>
          <a:prstGeom prst="rect">
            <a:avLst/>
          </a:prstGeom>
          <a:noFill/>
          <a:ln/>
        </p:spPr>
        <p:txBody>
          <a:bodyPr wrap="square" rtlCol="0" anchor="ctr"/>
          <a:lstStyle/>
          <a:p>
            <a:pPr indent="0" marL="0">
              <a:lnSpc>
                <a:spcPct val="115000"/>
              </a:lnSpc>
              <a:buNone/>
            </a:pPr>
            <a:r>
              <a:rPr lang="en-US" sz="1250" dirty="0">
                <a:solidFill>
                  <a:srgbClr val="1B1F2A"/>
                </a:solidFill>
                <a:latin typeface="Calibri" pitchFamily="34" charset="0"/>
                <a:ea typeface="Calibri" pitchFamily="34" charset="-122"/>
                <a:cs typeface="Calibri" pitchFamily="34" charset="-120"/>
              </a:rPr>
              <a:t>Reads it back as the literal text string "nan".</a:t>
            </a:r>
            <a:endParaRPr lang="en-US" sz="1250" dirty="0"/>
          </a:p>
        </p:txBody>
      </p:sp>
      <p:sp>
        <p:nvSpPr>
          <p:cNvPr id="20" name="Shape 18"/>
          <p:cNvSpPr/>
          <p:nvPr/>
        </p:nvSpPr>
        <p:spPr>
          <a:xfrm>
            <a:off x="548640" y="4846320"/>
            <a:ext cx="11064240" cy="777240"/>
          </a:xfrm>
          <a:prstGeom prst="roundRect">
            <a:avLst>
              <a:gd name="adj" fmla="val 9412"/>
            </a:avLst>
          </a:prstGeom>
          <a:solidFill>
            <a:srgbClr val="F6E4E1"/>
          </a:solidFill>
          <a:ln/>
        </p:spPr>
      </p:sp>
      <p:sp>
        <p:nvSpPr>
          <p:cNvPr id="21" name="Shape 19"/>
          <p:cNvSpPr/>
          <p:nvPr/>
        </p:nvSpPr>
        <p:spPr>
          <a:xfrm>
            <a:off x="777240" y="5029200"/>
            <a:ext cx="411480" cy="411480"/>
          </a:xfrm>
          <a:prstGeom prst="ellipse">
            <a:avLst/>
          </a:prstGeom>
          <a:solidFill>
            <a:srgbClr val="B23A2E"/>
          </a:solidFill>
          <a:ln/>
        </p:spPr>
      </p:sp>
      <p:sp>
        <p:nvSpPr>
          <p:cNvPr id="22" name="Text 20"/>
          <p:cNvSpPr/>
          <p:nvPr/>
        </p:nvSpPr>
        <p:spPr>
          <a:xfrm>
            <a:off x="777240" y="5029200"/>
            <a:ext cx="41148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1371600" y="4846320"/>
            <a:ext cx="1920240" cy="777240"/>
          </a:xfrm>
          <a:prstGeom prst="rect">
            <a:avLst/>
          </a:prstGeom>
          <a:noFill/>
          <a:ln/>
        </p:spPr>
        <p:txBody>
          <a:bodyPr wrap="square" rtlCol="0" anchor="ctr"/>
          <a:lstStyle/>
          <a:p>
            <a:pPr indent="0" marL="0">
              <a:buNone/>
            </a:pPr>
            <a:r>
              <a:rPr lang="en-US" sz="1300" b="1" dirty="0">
                <a:solidFill>
                  <a:srgbClr val="8A2C22"/>
                </a:solidFill>
                <a:latin typeface="Calibri" pitchFamily="34" charset="0"/>
                <a:ea typeface="Calibri" pitchFamily="34" charset="-122"/>
                <a:cs typeface="Calibri" pitchFamily="34" charset="-120"/>
              </a:rPr>
              <a:t>Spark cast</a:t>
            </a:r>
            <a:endParaRPr lang="en-US" sz="1300" dirty="0"/>
          </a:p>
        </p:txBody>
      </p:sp>
      <p:sp>
        <p:nvSpPr>
          <p:cNvPr id="24" name="Text 22"/>
          <p:cNvSpPr/>
          <p:nvPr/>
        </p:nvSpPr>
        <p:spPr>
          <a:xfrm>
            <a:off x="3337560" y="4846320"/>
            <a:ext cx="8138160" cy="777240"/>
          </a:xfrm>
          <a:prstGeom prst="rect">
            <a:avLst/>
          </a:prstGeom>
          <a:noFill/>
          <a:ln/>
        </p:spPr>
        <p:txBody>
          <a:bodyPr wrap="square" rtlCol="0" anchor="ctr"/>
          <a:lstStyle/>
          <a:p>
            <a:pPr indent="0" marL="0">
              <a:lnSpc>
                <a:spcPct val="115000"/>
              </a:lnSpc>
              <a:buNone/>
            </a:pPr>
            <a:r>
              <a:rPr lang="en-US" sz="1250" dirty="0">
                <a:solidFill>
                  <a:srgbClr val="1B1F2A"/>
                </a:solidFill>
                <a:latin typeface="Calibri" pitchFamily="34" charset="0"/>
                <a:ea typeface="Calibri" pitchFamily="34" charset="-122"/>
                <a:cs typeface="Calibri" pitchFamily="34" charset="-120"/>
              </a:rPr>
              <a:t>Tries CAST("nan" AS TIMESTAMP). Spark 4 runs in ANSI mode — this is a hard crash, not a quiet null.</a:t>
            </a:r>
            <a:endParaRPr lang="en-US" sz="1250" dirty="0"/>
          </a:p>
        </p:txBody>
      </p:sp>
      <p:sp>
        <p:nvSpPr>
          <p:cNvPr id="25" name="Text 23"/>
          <p:cNvSpPr/>
          <p:nvPr/>
        </p:nvSpPr>
        <p:spPr>
          <a:xfrm>
            <a:off x="548640" y="5806440"/>
            <a:ext cx="11064240" cy="502920"/>
          </a:xfrm>
          <a:prstGeom prst="rect">
            <a:avLst/>
          </a:prstGeom>
          <a:noFill/>
          <a:ln/>
        </p:spPr>
        <p:txBody>
          <a:bodyPr wrap="square" rtlCol="0" anchor="ctr"/>
          <a:lstStyle/>
          <a:p>
            <a:pPr indent="0" marL="0">
              <a:buNone/>
            </a:pPr>
            <a:r>
              <a:rPr lang="en-US" sz="1250" i="1" dirty="0">
                <a:solidFill>
                  <a:srgbClr val="5B6472"/>
                </a:solidFill>
                <a:latin typeface="Calibri" pitchFamily="34" charset="0"/>
                <a:ea typeface="Calibri" pitchFamily="34" charset="-122"/>
                <a:cs typeface="Calibri" pitchFamily="34" charset="-120"/>
              </a:rPr>
              <a:t>Fixed at the source (convert NaN → None before sending) — and defensively in the consumer (try_cast, so one bad record can't kill a batch of a million good ones).</a:t>
            </a:r>
            <a:endParaRPr lang="en-US" sz="1250" dirty="0"/>
          </a:p>
        </p:txBody>
      </p:sp>
      <p:sp>
        <p:nvSpPr>
          <p:cNvPr id="26" name="Text 24"/>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A7AFBD"/>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STAGE 3 — SERVE</a:t>
            </a:r>
            <a:endParaRPr lang="en-US" sz="1250" dirty="0"/>
          </a:p>
        </p:txBody>
      </p:sp>
      <p:sp>
        <p:nvSpPr>
          <p:cNvPr id="3" name="Text 1"/>
          <p:cNvSpPr/>
          <p:nvPr/>
        </p:nvSpPr>
        <p:spPr>
          <a:xfrm>
            <a:off x="548640" y="658368"/>
            <a:ext cx="10789920" cy="822960"/>
          </a:xfrm>
          <a:prstGeom prst="rect">
            <a:avLst/>
          </a:prstGeom>
          <a:noFill/>
          <a:ln/>
        </p:spPr>
        <p:txBody>
          <a:bodyPr wrap="square" rtlCol="0" anchor="ctr"/>
          <a:lstStyle/>
          <a:p>
            <a:pPr indent="0" marL="0">
              <a:buNone/>
            </a:pPr>
            <a:r>
              <a:rPr lang="en-US" sz="3000" b="1" dirty="0">
                <a:solidFill>
                  <a:srgbClr val="1B1F2A"/>
                </a:solidFill>
                <a:latin typeface="Cambria" pitchFamily="34" charset="0"/>
                <a:ea typeface="Cambria" pitchFamily="34" charset="-122"/>
                <a:cs typeface="Cambria" pitchFamily="34" charset="-120"/>
              </a:rPr>
              <a:t>Hive: the filing cabinet with labels</a:t>
            </a:r>
            <a:endParaRPr lang="en-US" sz="3000" dirty="0"/>
          </a:p>
        </p:txBody>
      </p:sp>
      <p:sp>
        <p:nvSpPr>
          <p:cNvPr id="4" name="Text 2"/>
          <p:cNvSpPr/>
          <p:nvPr/>
        </p:nvSpPr>
        <p:spPr>
          <a:xfrm>
            <a:off x="548640" y="1645920"/>
            <a:ext cx="5760720" cy="1005840"/>
          </a:xfrm>
          <a:prstGeom prst="rect">
            <a:avLst/>
          </a:prstGeom>
          <a:noFill/>
          <a:ln/>
        </p:spPr>
        <p:txBody>
          <a:bodyPr wrap="square" rtlCol="0" anchor="ctr"/>
          <a:lstStyle/>
          <a:p>
            <a:pPr indent="0" marL="0">
              <a:lnSpc>
                <a:spcPct val="130000"/>
              </a:lnSpc>
              <a:buNone/>
            </a:pPr>
            <a:r>
              <a:rPr lang="en-US" sz="1450" dirty="0">
                <a:solidFill>
                  <a:srgbClr val="1B1F2A"/>
                </a:solidFill>
                <a:latin typeface="Calibri" pitchFamily="34" charset="0"/>
                <a:ea typeface="Calibri" pitchFamily="34" charset="-122"/>
                <a:cs typeface="Calibri" pitchFamily="34" charset="-120"/>
              </a:rPr>
              <a:t>Spark's output is just files on disk — Parquet files scattered across folders. An analyst who knows SQL but not Spark can't use that directly.</a:t>
            </a:r>
            <a:endParaRPr lang="en-US" sz="1450" dirty="0"/>
          </a:p>
        </p:txBody>
      </p:sp>
      <p:sp>
        <p:nvSpPr>
          <p:cNvPr id="5" name="Text 3"/>
          <p:cNvSpPr/>
          <p:nvPr/>
        </p:nvSpPr>
        <p:spPr>
          <a:xfrm>
            <a:off x="548640" y="2743200"/>
            <a:ext cx="5760720" cy="1280160"/>
          </a:xfrm>
          <a:prstGeom prst="rect">
            <a:avLst/>
          </a:prstGeom>
          <a:noFill/>
          <a:ln/>
        </p:spPr>
        <p:txBody>
          <a:bodyPr wrap="square" rtlCol="0" anchor="ctr"/>
          <a:lstStyle/>
          <a:p>
            <a:pPr indent="0" marL="0">
              <a:lnSpc>
                <a:spcPct val="130000"/>
              </a:lnSpc>
              <a:buNone/>
            </a:pPr>
            <a:r>
              <a:rPr lang="en-US" sz="1450" dirty="0">
                <a:solidFill>
                  <a:srgbClr val="1B1F2A"/>
                </a:solidFill>
                <a:latin typeface="Calibri" pitchFamily="34" charset="0"/>
                <a:ea typeface="Calibri" pitchFamily="34" charset="-122"/>
                <a:cs typeface="Calibri" pitchFamily="34" charset="-120"/>
              </a:rPr>
              <a:t>Hive's metastore is a small catalog that says: "these files, at this path, are a table called city_sales, with these columns." Any tool — Spark, Trino, anything — can now read them as a table.</a:t>
            </a:r>
            <a:endParaRPr lang="en-US" sz="1450" dirty="0"/>
          </a:p>
        </p:txBody>
      </p:sp>
      <p:sp>
        <p:nvSpPr>
          <p:cNvPr id="6" name="Shape 4"/>
          <p:cNvSpPr/>
          <p:nvPr/>
        </p:nvSpPr>
        <p:spPr>
          <a:xfrm>
            <a:off x="548640" y="4343400"/>
            <a:ext cx="5760720" cy="1554480"/>
          </a:xfrm>
          <a:prstGeom prst="roundRect">
            <a:avLst>
              <a:gd name="adj" fmla="val 5882"/>
            </a:avLst>
          </a:prstGeom>
          <a:solidFill>
            <a:srgbClr val="F4F7FA"/>
          </a:solidFill>
          <a:ln/>
        </p:spPr>
      </p:sp>
      <p:sp>
        <p:nvSpPr>
          <p:cNvPr id="7" name="Text 5"/>
          <p:cNvSpPr/>
          <p:nvPr/>
        </p:nvSpPr>
        <p:spPr>
          <a:xfrm>
            <a:off x="822960" y="4498848"/>
            <a:ext cx="5303520" cy="365760"/>
          </a:xfrm>
          <a:prstGeom prst="rect">
            <a:avLst/>
          </a:prstGeom>
          <a:noFill/>
          <a:ln/>
        </p:spPr>
        <p:txBody>
          <a:bodyPr wrap="square" rtlCol="0" anchor="ctr"/>
          <a:lstStyle/>
          <a:p>
            <a:pPr indent="0" marL="0">
              <a:buNone/>
            </a:pPr>
            <a:r>
              <a:rPr lang="en-US" sz="1350" b="1" dirty="0">
                <a:solidFill>
                  <a:srgbClr val="1C7293"/>
                </a:solidFill>
                <a:latin typeface="Calibri" pitchFamily="34" charset="0"/>
                <a:ea typeface="Calibri" pitchFamily="34" charset="-122"/>
                <a:cs typeface="Calibri" pitchFamily="34" charset="-120"/>
              </a:rPr>
              <a:t>saveAsTable() vs. save()</a:t>
            </a:r>
            <a:endParaRPr lang="en-US" sz="1350" dirty="0"/>
          </a:p>
        </p:txBody>
      </p:sp>
      <p:sp>
        <p:nvSpPr>
          <p:cNvPr id="8" name="Text 6"/>
          <p:cNvSpPr/>
          <p:nvPr/>
        </p:nvSpPr>
        <p:spPr>
          <a:xfrm>
            <a:off x="822960" y="4864608"/>
            <a:ext cx="5303520" cy="914400"/>
          </a:xfrm>
          <a:prstGeom prst="rect">
            <a:avLst/>
          </a:prstGeom>
          <a:noFill/>
          <a:ln/>
        </p:spPr>
        <p:txBody>
          <a:bodyPr wrap="square" rtlCol="0" anchor="ctr"/>
          <a:lstStyle/>
          <a:p>
            <a:pPr indent="0" marL="0">
              <a:lnSpc>
                <a:spcPct val="125000"/>
              </a:lnSpc>
              <a:buNone/>
            </a:pPr>
            <a:r>
              <a:rPr lang="en-US" sz="1200" dirty="0">
                <a:solidFill>
                  <a:srgbClr val="1B1F2A"/>
                </a:solidFill>
                <a:latin typeface="Calibri" pitchFamily="34" charset="0"/>
                <a:ea typeface="Calibri" pitchFamily="34" charset="-122"/>
                <a:cs typeface="Calibri" pitchFamily="34" charset="-120"/>
              </a:rPr>
              <a:t>save() just writes files. saveAsTable() writes files AND registers them in the catalog — that's the only difference, and it's why we use it.</a:t>
            </a:r>
            <a:endParaRPr lang="en-US" sz="1200" dirty="0"/>
          </a:p>
        </p:txBody>
      </p:sp>
      <p:sp>
        <p:nvSpPr>
          <p:cNvPr id="9" name="Shape 7"/>
          <p:cNvSpPr/>
          <p:nvPr/>
        </p:nvSpPr>
        <p:spPr>
          <a:xfrm>
            <a:off x="6720840" y="1645920"/>
            <a:ext cx="4892040" cy="4251960"/>
          </a:xfrm>
          <a:prstGeom prst="roundRect">
            <a:avLst>
              <a:gd name="adj" fmla="val 2151"/>
            </a:avLst>
          </a:prstGeom>
          <a:solidFill>
            <a:srgbClr val="21295C"/>
          </a:solidFill>
          <a:ln/>
        </p:spPr>
      </p:sp>
      <p:sp>
        <p:nvSpPr>
          <p:cNvPr id="10" name="Shape 8"/>
          <p:cNvSpPr/>
          <p:nvPr/>
        </p:nvSpPr>
        <p:spPr>
          <a:xfrm>
            <a:off x="6995160" y="1920240"/>
            <a:ext cx="548640" cy="548640"/>
          </a:xfrm>
          <a:prstGeom prst="ellipse">
            <a:avLst/>
          </a:prstGeom>
          <a:solidFill>
            <a:srgbClr val="FFFFFF">
              <a:alpha val="25000"/>
            </a:srgbClr>
          </a:solidFill>
          <a:ln/>
        </p:spPr>
      </p:sp>
      <p:pic>
        <p:nvPicPr>
          <p:cNvPr id="11" name="Image 0" descr="preencoded.png">    </p:cNvPr>
          <p:cNvPicPr>
            <a:picLocks noChangeAspect="1"/>
          </p:cNvPicPr>
          <p:nvPr/>
        </p:nvPicPr>
        <p:blipFill>
          <a:blip r:embed="rId1"/>
          <a:stretch>
            <a:fillRect/>
          </a:stretch>
        </p:blipFill>
        <p:spPr>
          <a:xfrm>
            <a:off x="7137806" y="2062886"/>
            <a:ext cx="263347" cy="263347"/>
          </a:xfrm>
          <a:prstGeom prst="rect">
            <a:avLst/>
          </a:prstGeom>
        </p:spPr>
      </p:pic>
      <p:sp>
        <p:nvSpPr>
          <p:cNvPr id="12" name="Text 9"/>
          <p:cNvSpPr/>
          <p:nvPr/>
        </p:nvSpPr>
        <p:spPr>
          <a:xfrm>
            <a:off x="7680960" y="1938528"/>
            <a:ext cx="3749040" cy="54864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Separation of storage and compute</a:t>
            </a:r>
            <a:endParaRPr lang="en-US" sz="1350" dirty="0"/>
          </a:p>
        </p:txBody>
      </p:sp>
      <p:sp>
        <p:nvSpPr>
          <p:cNvPr id="13" name="Text 10"/>
          <p:cNvSpPr/>
          <p:nvPr/>
        </p:nvSpPr>
        <p:spPr>
          <a:xfrm>
            <a:off x="6995160" y="2606040"/>
            <a:ext cx="4343400" cy="3108960"/>
          </a:xfrm>
          <a:prstGeom prst="rect">
            <a:avLst/>
          </a:prstGeom>
          <a:noFill/>
          <a:ln/>
        </p:spPr>
        <p:txBody>
          <a:bodyPr wrap="square" rtlCol="0" anchor="ctr"/>
          <a:lstStyle/>
          <a:p>
            <a:pPr indent="0" marL="0">
              <a:lnSpc>
                <a:spcPct val="130000"/>
              </a:lnSpc>
              <a:buNone/>
            </a:pPr>
            <a:r>
              <a:rPr lang="en-US" sz="1250" dirty="0">
                <a:solidFill>
                  <a:srgbClr val="D7DEEA"/>
                </a:solidFill>
                <a:latin typeface="Calibri" pitchFamily="34" charset="0"/>
                <a:ea typeface="Calibri" pitchFamily="34" charset="-122"/>
                <a:cs typeface="Calibri" pitchFamily="34" charset="-120"/>
              </a:rPr>
              <a:t>The data is just Parquet files. The metastore is only a catalog on top. Spin up a big cluster, run a job, shut it down — the data never lived inside the cluster.</a:t>
            </a:r>
            <a:endParaRPr lang="en-US" sz="1250" dirty="0"/>
          </a:p>
          <a:p>
            <a:pPr indent="0" marL="0">
              <a:lnSpc>
                <a:spcPct val="130000"/>
              </a:lnSpc>
              <a:buNone/>
            </a:pPr>
            <a:endParaRPr lang="en-US" sz="1250" dirty="0"/>
          </a:p>
          <a:p>
            <a:pPr indent="0" marL="0">
              <a:lnSpc>
                <a:spcPct val="130000"/>
              </a:lnSpc>
              <a:buNone/>
            </a:pPr>
            <a:r>
              <a:rPr lang="en-US" sz="1250" dirty="0">
                <a:solidFill>
                  <a:srgbClr val="D7DEEA"/>
                </a:solidFill>
                <a:latin typeface="Calibri" pitchFamily="34" charset="0"/>
                <a:ea typeface="Calibri" pitchFamily="34" charset="-122"/>
                <a:cs typeface="Calibri" pitchFamily="34" charset="-120"/>
              </a:rPr>
              <a:t>Compare that to Postgres, where data lives in a proprietary format only Postgres can read. That coupling is exactly what Hive avoids.</a:t>
            </a:r>
            <a:endParaRPr lang="en-US" sz="1250" dirty="0"/>
          </a:p>
        </p:txBody>
      </p:sp>
      <p:sp>
        <p:nvSpPr>
          <p:cNvPr id="14" name="Text 11"/>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A7AFBD"/>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HOW THE DATA IS ORGANIZED ON DISK</a:t>
            </a:r>
            <a:endParaRPr lang="en-US" sz="1250" dirty="0"/>
          </a:p>
        </p:txBody>
      </p:sp>
      <p:sp>
        <p:nvSpPr>
          <p:cNvPr id="3" name="Text 1"/>
          <p:cNvSpPr/>
          <p:nvPr/>
        </p:nvSpPr>
        <p:spPr>
          <a:xfrm>
            <a:off x="548640" y="658368"/>
            <a:ext cx="10789920" cy="822960"/>
          </a:xfrm>
          <a:prstGeom prst="rect">
            <a:avLst/>
          </a:prstGeom>
          <a:noFill/>
          <a:ln/>
        </p:spPr>
        <p:txBody>
          <a:bodyPr wrap="square" rtlCol="0" anchor="ctr"/>
          <a:lstStyle/>
          <a:p>
            <a:pPr indent="0" marL="0">
              <a:buNone/>
            </a:pPr>
            <a:r>
              <a:rPr lang="en-US" sz="3000" b="1" dirty="0">
                <a:solidFill>
                  <a:srgbClr val="1B1F2A"/>
                </a:solidFill>
                <a:latin typeface="Cambria" pitchFamily="34" charset="0"/>
                <a:ea typeface="Cambria" pitchFamily="34" charset="-122"/>
                <a:cs typeface="Cambria" pitchFamily="34" charset="-120"/>
              </a:rPr>
              <a:t>Bronze, silver, gold</a:t>
            </a:r>
            <a:endParaRPr lang="en-US" sz="3000" dirty="0"/>
          </a:p>
        </p:txBody>
      </p:sp>
      <p:sp>
        <p:nvSpPr>
          <p:cNvPr id="4" name="Shape 2"/>
          <p:cNvSpPr/>
          <p:nvPr/>
        </p:nvSpPr>
        <p:spPr>
          <a:xfrm>
            <a:off x="685800" y="1783080"/>
            <a:ext cx="3429000" cy="3566160"/>
          </a:xfrm>
          <a:prstGeom prst="roundRect">
            <a:avLst>
              <a:gd name="adj" fmla="val 2667"/>
            </a:avLst>
          </a:prstGeom>
          <a:solidFill>
            <a:srgbClr val="8C6A4E"/>
          </a:solidFill>
          <a:ln/>
        </p:spPr>
      </p:sp>
      <p:sp>
        <p:nvSpPr>
          <p:cNvPr id="5" name="Text 3"/>
          <p:cNvSpPr/>
          <p:nvPr/>
        </p:nvSpPr>
        <p:spPr>
          <a:xfrm>
            <a:off x="685800" y="2057400"/>
            <a:ext cx="3429000" cy="45720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BRONZE</a:t>
            </a:r>
            <a:endParaRPr lang="en-US" sz="2000" dirty="0"/>
          </a:p>
        </p:txBody>
      </p:sp>
      <p:sp>
        <p:nvSpPr>
          <p:cNvPr id="6" name="Text 4"/>
          <p:cNvSpPr/>
          <p:nvPr/>
        </p:nvSpPr>
        <p:spPr>
          <a:xfrm>
            <a:off x="685800" y="2560320"/>
            <a:ext cx="3429000" cy="365760"/>
          </a:xfrm>
          <a:prstGeom prst="rect">
            <a:avLst/>
          </a:prstGeom>
          <a:noFill/>
          <a:ln/>
        </p:spPr>
        <p:txBody>
          <a:bodyPr wrap="square" rtlCol="0" anchor="ctr"/>
          <a:lstStyle/>
          <a:p>
            <a:pPr algn="ctr" indent="0" marL="0">
              <a:buNone/>
            </a:pPr>
            <a:r>
              <a:rPr lang="en-US" sz="1250" i="1" dirty="0">
                <a:solidFill>
                  <a:srgbClr val="E8ECF2"/>
                </a:solidFill>
                <a:latin typeface="Calibri" pitchFamily="34" charset="0"/>
                <a:ea typeface="Calibri" pitchFamily="34" charset="-122"/>
                <a:cs typeface="Calibri" pitchFamily="34" charset="-120"/>
              </a:rPr>
              <a:t>Raw, as received</a:t>
            </a:r>
            <a:endParaRPr lang="en-US" sz="1250" dirty="0"/>
          </a:p>
        </p:txBody>
      </p:sp>
      <p:sp>
        <p:nvSpPr>
          <p:cNvPr id="7" name="Text 5"/>
          <p:cNvSpPr/>
          <p:nvPr/>
        </p:nvSpPr>
        <p:spPr>
          <a:xfrm>
            <a:off x="1005840" y="3063240"/>
            <a:ext cx="2788920" cy="1737360"/>
          </a:xfrm>
          <a:prstGeom prst="rect">
            <a:avLst/>
          </a:prstGeom>
          <a:noFill/>
          <a:ln/>
        </p:spPr>
        <p:txBody>
          <a:bodyPr wrap="square" rtlCol="0" anchor="ctr"/>
          <a:lstStyle/>
          <a:p>
            <a:pPr algn="ctr" indent="0" marL="0">
              <a:lnSpc>
                <a:spcPct val="130000"/>
              </a:lnSpc>
              <a:buNone/>
            </a:pPr>
            <a:r>
              <a:rPr lang="en-US" sz="1200" dirty="0">
                <a:solidFill>
                  <a:srgbClr val="F5F7FA"/>
                </a:solidFill>
                <a:latin typeface="Calibri" pitchFamily="34" charset="0"/>
                <a:ea typeface="Calibri" pitchFamily="34" charset="-122"/>
                <a:cs typeface="Calibri" pitchFamily="34" charset="-120"/>
              </a:rPr>
              <a:t>Exactly what arrived from Kafka — untouched. Your ability to rebuild everything.</a:t>
            </a:r>
            <a:endParaRPr lang="en-US" sz="1200" dirty="0"/>
          </a:p>
        </p:txBody>
      </p:sp>
      <p:sp>
        <p:nvSpPr>
          <p:cNvPr id="8" name="Shape 6"/>
          <p:cNvSpPr/>
          <p:nvPr/>
        </p:nvSpPr>
        <p:spPr>
          <a:xfrm>
            <a:off x="4480560" y="2103120"/>
            <a:ext cx="3429000" cy="3246120"/>
          </a:xfrm>
          <a:prstGeom prst="roundRect">
            <a:avLst>
              <a:gd name="adj" fmla="val 2817"/>
            </a:avLst>
          </a:prstGeom>
          <a:solidFill>
            <a:srgbClr val="6E7C8C"/>
          </a:solidFill>
          <a:ln/>
        </p:spPr>
      </p:sp>
      <p:sp>
        <p:nvSpPr>
          <p:cNvPr id="9" name="Text 7"/>
          <p:cNvSpPr/>
          <p:nvPr/>
        </p:nvSpPr>
        <p:spPr>
          <a:xfrm>
            <a:off x="4480560" y="2377440"/>
            <a:ext cx="3429000" cy="45720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SILVER</a:t>
            </a:r>
            <a:endParaRPr lang="en-US" sz="2000" dirty="0"/>
          </a:p>
        </p:txBody>
      </p:sp>
      <p:sp>
        <p:nvSpPr>
          <p:cNvPr id="10" name="Text 8"/>
          <p:cNvSpPr/>
          <p:nvPr/>
        </p:nvSpPr>
        <p:spPr>
          <a:xfrm>
            <a:off x="4480560" y="2880360"/>
            <a:ext cx="3429000" cy="365760"/>
          </a:xfrm>
          <a:prstGeom prst="rect">
            <a:avLst/>
          </a:prstGeom>
          <a:noFill/>
          <a:ln/>
        </p:spPr>
        <p:txBody>
          <a:bodyPr wrap="square" rtlCol="0" anchor="ctr"/>
          <a:lstStyle/>
          <a:p>
            <a:pPr algn="ctr" indent="0" marL="0">
              <a:buNone/>
            </a:pPr>
            <a:r>
              <a:rPr lang="en-US" sz="1250" i="1" dirty="0">
                <a:solidFill>
                  <a:srgbClr val="E8ECF2"/>
                </a:solidFill>
                <a:latin typeface="Calibri" pitchFamily="34" charset="0"/>
                <a:ea typeface="Calibri" pitchFamily="34" charset="-122"/>
                <a:cs typeface="Calibri" pitchFamily="34" charset="-120"/>
              </a:rPr>
              <a:t>Cleaned &amp; typed</a:t>
            </a:r>
            <a:endParaRPr lang="en-US" sz="1250" dirty="0"/>
          </a:p>
        </p:txBody>
      </p:sp>
      <p:sp>
        <p:nvSpPr>
          <p:cNvPr id="11" name="Text 9"/>
          <p:cNvSpPr/>
          <p:nvPr/>
        </p:nvSpPr>
        <p:spPr>
          <a:xfrm>
            <a:off x="4800600" y="3383280"/>
            <a:ext cx="2788920" cy="1737360"/>
          </a:xfrm>
          <a:prstGeom prst="rect">
            <a:avLst/>
          </a:prstGeom>
          <a:noFill/>
          <a:ln/>
        </p:spPr>
        <p:txBody>
          <a:bodyPr wrap="square" rtlCol="0" anchor="ctr"/>
          <a:lstStyle/>
          <a:p>
            <a:pPr algn="ctr" indent="0" marL="0">
              <a:lnSpc>
                <a:spcPct val="130000"/>
              </a:lnSpc>
              <a:buNone/>
            </a:pPr>
            <a:r>
              <a:rPr lang="en-US" sz="1200" dirty="0">
                <a:solidFill>
                  <a:srgbClr val="F5F7FA"/>
                </a:solidFill>
                <a:latin typeface="Calibri" pitchFamily="34" charset="0"/>
                <a:ea typeface="Calibri" pitchFamily="34" charset="-122"/>
                <a:cs typeface="Calibri" pitchFamily="34" charset="-120"/>
              </a:rPr>
              <a:t>Casted types, fixed city names, calculated fields. Trustworthy row-level data.</a:t>
            </a:r>
            <a:endParaRPr lang="en-US" sz="1200" dirty="0"/>
          </a:p>
        </p:txBody>
      </p:sp>
      <p:sp>
        <p:nvSpPr>
          <p:cNvPr id="12" name="Shape 10"/>
          <p:cNvSpPr/>
          <p:nvPr/>
        </p:nvSpPr>
        <p:spPr>
          <a:xfrm>
            <a:off x="8275320" y="2423160"/>
            <a:ext cx="3429000" cy="2926080"/>
          </a:xfrm>
          <a:prstGeom prst="roundRect">
            <a:avLst>
              <a:gd name="adj" fmla="val 3125"/>
            </a:avLst>
          </a:prstGeom>
          <a:solidFill>
            <a:srgbClr val="C9A227"/>
          </a:solidFill>
          <a:ln/>
        </p:spPr>
      </p:sp>
      <p:sp>
        <p:nvSpPr>
          <p:cNvPr id="13" name="Text 11"/>
          <p:cNvSpPr/>
          <p:nvPr/>
        </p:nvSpPr>
        <p:spPr>
          <a:xfrm>
            <a:off x="8275320" y="2697480"/>
            <a:ext cx="3429000" cy="45720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GOLD</a:t>
            </a:r>
            <a:endParaRPr lang="en-US" sz="2000" dirty="0"/>
          </a:p>
        </p:txBody>
      </p:sp>
      <p:sp>
        <p:nvSpPr>
          <p:cNvPr id="14" name="Text 12"/>
          <p:cNvSpPr/>
          <p:nvPr/>
        </p:nvSpPr>
        <p:spPr>
          <a:xfrm>
            <a:off x="8275320" y="3200400"/>
            <a:ext cx="3429000" cy="365760"/>
          </a:xfrm>
          <a:prstGeom prst="rect">
            <a:avLst/>
          </a:prstGeom>
          <a:noFill/>
          <a:ln/>
        </p:spPr>
        <p:txBody>
          <a:bodyPr wrap="square" rtlCol="0" anchor="ctr"/>
          <a:lstStyle/>
          <a:p>
            <a:pPr algn="ctr" indent="0" marL="0">
              <a:buNone/>
            </a:pPr>
            <a:r>
              <a:rPr lang="en-US" sz="1250" i="1" dirty="0">
                <a:solidFill>
                  <a:srgbClr val="E8ECF2"/>
                </a:solidFill>
                <a:latin typeface="Calibri" pitchFamily="34" charset="0"/>
                <a:ea typeface="Calibri" pitchFamily="34" charset="-122"/>
                <a:cs typeface="Calibri" pitchFamily="34" charset="-120"/>
              </a:rPr>
              <a:t>Business-ready</a:t>
            </a:r>
            <a:endParaRPr lang="en-US" sz="1250" dirty="0"/>
          </a:p>
        </p:txBody>
      </p:sp>
      <p:sp>
        <p:nvSpPr>
          <p:cNvPr id="15" name="Text 13"/>
          <p:cNvSpPr/>
          <p:nvPr/>
        </p:nvSpPr>
        <p:spPr>
          <a:xfrm>
            <a:off x="8595360" y="3703320"/>
            <a:ext cx="2788920" cy="1737360"/>
          </a:xfrm>
          <a:prstGeom prst="rect">
            <a:avLst/>
          </a:prstGeom>
          <a:noFill/>
          <a:ln/>
        </p:spPr>
        <p:txBody>
          <a:bodyPr wrap="square" rtlCol="0" anchor="ctr"/>
          <a:lstStyle/>
          <a:p>
            <a:pPr algn="ctr" indent="0" marL="0">
              <a:lnSpc>
                <a:spcPct val="130000"/>
              </a:lnSpc>
              <a:buNone/>
            </a:pPr>
            <a:r>
              <a:rPr lang="en-US" sz="1200" dirty="0">
                <a:solidFill>
                  <a:srgbClr val="F5F7FA"/>
                </a:solidFill>
                <a:latin typeface="Calibri" pitchFamily="34" charset="0"/>
                <a:ea typeface="Calibri" pitchFamily="34" charset="-122"/>
                <a:cs typeface="Calibri" pitchFamily="34" charset="-120"/>
              </a:rPr>
              <a:t>The 12 aggregated answer-tables: sales by city, review scores, delivery times.</a:t>
            </a:r>
            <a:endParaRPr lang="en-US" sz="1200" dirty="0"/>
          </a:p>
        </p:txBody>
      </p:sp>
      <p:sp>
        <p:nvSpPr>
          <p:cNvPr id="16" name="Text 14"/>
          <p:cNvSpPr/>
          <p:nvPr/>
        </p:nvSpPr>
        <p:spPr>
          <a:xfrm>
            <a:off x="548640" y="5623560"/>
            <a:ext cx="11064240" cy="457200"/>
          </a:xfrm>
          <a:prstGeom prst="rect">
            <a:avLst/>
          </a:prstGeom>
          <a:noFill/>
          <a:ln/>
        </p:spPr>
        <p:txBody>
          <a:bodyPr wrap="square" rtlCol="0" anchor="ctr"/>
          <a:lstStyle/>
          <a:p>
            <a:pPr algn="ctr" indent="0" marL="0">
              <a:buNone/>
            </a:pPr>
            <a:r>
              <a:rPr lang="en-US" sz="1300" i="1" dirty="0">
                <a:solidFill>
                  <a:srgbClr val="5B6472"/>
                </a:solidFill>
                <a:latin typeface="Calibri" pitchFamily="34" charset="0"/>
                <a:ea typeface="Calibri" pitchFamily="34" charset="-122"/>
                <a:cs typeface="Calibri" pitchFamily="34" charset="-120"/>
              </a:rPr>
              <a:t>Each layer is rebuildable from the one before it — never edit bronze directly.</a:t>
            </a:r>
            <a:endParaRPr lang="en-US" sz="1300" dirty="0"/>
          </a:p>
        </p:txBody>
      </p:sp>
      <p:sp>
        <p:nvSpPr>
          <p:cNvPr id="17" name="Text 15"/>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A7AFBD"/>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RESULTS — EXPLORING THE DATA FIRST</a:t>
            </a:r>
            <a:endParaRPr lang="en-US" sz="1250" dirty="0"/>
          </a:p>
        </p:txBody>
      </p:sp>
      <p:sp>
        <p:nvSpPr>
          <p:cNvPr id="3" name="Text 1"/>
          <p:cNvSpPr/>
          <p:nvPr/>
        </p:nvSpPr>
        <p:spPr>
          <a:xfrm>
            <a:off x="548640" y="658368"/>
            <a:ext cx="10789920" cy="822960"/>
          </a:xfrm>
          <a:prstGeom prst="rect">
            <a:avLst/>
          </a:prstGeom>
          <a:noFill/>
          <a:ln/>
        </p:spPr>
        <p:txBody>
          <a:bodyPr wrap="square" rtlCol="0" anchor="ctr"/>
          <a:lstStyle/>
          <a:p>
            <a:pPr indent="0" marL="0">
              <a:buNone/>
            </a:pPr>
            <a:r>
              <a:rPr lang="en-US" sz="3000" b="1" dirty="0">
                <a:solidFill>
                  <a:srgbClr val="1B1F2A"/>
                </a:solidFill>
                <a:latin typeface="Cambria" pitchFamily="34" charset="0"/>
                <a:ea typeface="Cambria" pitchFamily="34" charset="-122"/>
                <a:cs typeface="Cambria" pitchFamily="34" charset="-120"/>
              </a:rPr>
              <a:t>What we found before trusting it</a:t>
            </a:r>
            <a:endParaRPr lang="en-US" sz="3000" dirty="0"/>
          </a:p>
        </p:txBody>
      </p:sp>
      <p:sp>
        <p:nvSpPr>
          <p:cNvPr id="4" name="Shape 2"/>
          <p:cNvSpPr/>
          <p:nvPr/>
        </p:nvSpPr>
        <p:spPr>
          <a:xfrm>
            <a:off x="548640" y="1691640"/>
            <a:ext cx="2606040" cy="1554480"/>
          </a:xfrm>
          <a:prstGeom prst="roundRect">
            <a:avLst>
              <a:gd name="adj" fmla="val 5294"/>
            </a:avLst>
          </a:prstGeom>
          <a:solidFill>
            <a:srgbClr val="F4F7FA"/>
          </a:solidFill>
          <a:ln/>
        </p:spPr>
      </p:sp>
      <p:sp>
        <p:nvSpPr>
          <p:cNvPr id="5" name="Text 3"/>
          <p:cNvSpPr/>
          <p:nvPr/>
        </p:nvSpPr>
        <p:spPr>
          <a:xfrm>
            <a:off x="685800" y="1828800"/>
            <a:ext cx="2331720" cy="777240"/>
          </a:xfrm>
          <a:prstGeom prst="rect">
            <a:avLst/>
          </a:prstGeom>
          <a:noFill/>
          <a:ln/>
        </p:spPr>
        <p:txBody>
          <a:bodyPr wrap="square" rtlCol="0" anchor="ctr"/>
          <a:lstStyle/>
          <a:p>
            <a:pPr algn="ctr" indent="0" marL="0">
              <a:buNone/>
            </a:pPr>
            <a:r>
              <a:rPr lang="en-US" sz="2600" b="1" dirty="0">
                <a:solidFill>
                  <a:srgbClr val="065A82"/>
                </a:solidFill>
                <a:latin typeface="Cambria" pitchFamily="34" charset="0"/>
                <a:ea typeface="Cambria" pitchFamily="34" charset="-122"/>
                <a:cs typeface="Cambria" pitchFamily="34" charset="-120"/>
              </a:rPr>
              <a:t>127.88</a:t>
            </a:r>
            <a:endParaRPr lang="en-US" sz="2600" dirty="0"/>
          </a:p>
        </p:txBody>
      </p:sp>
      <p:sp>
        <p:nvSpPr>
          <p:cNvPr id="6" name="Text 4"/>
          <p:cNvSpPr/>
          <p:nvPr/>
        </p:nvSpPr>
        <p:spPr>
          <a:xfrm>
            <a:off x="685800" y="2633472"/>
            <a:ext cx="2331720" cy="457200"/>
          </a:xfrm>
          <a:prstGeom prst="rect">
            <a:avLst/>
          </a:prstGeom>
          <a:noFill/>
          <a:ln/>
        </p:spPr>
        <p:txBody>
          <a:bodyPr wrap="square" rtlCol="0" anchor="ctr"/>
          <a:lstStyle/>
          <a:p>
            <a:pPr algn="ctr" indent="0" marL="0">
              <a:buNone/>
            </a:pPr>
            <a:r>
              <a:rPr lang="en-US" sz="1150" dirty="0">
                <a:solidFill>
                  <a:srgbClr val="5B6472"/>
                </a:solidFill>
                <a:latin typeface="Calibri" pitchFamily="34" charset="0"/>
                <a:ea typeface="Calibri" pitchFamily="34" charset="-122"/>
                <a:cs typeface="Calibri" pitchFamily="34" charset="-120"/>
              </a:rPr>
              <a:t>avg. product value</a:t>
            </a:r>
            <a:endParaRPr lang="en-US" sz="1150" dirty="0"/>
          </a:p>
        </p:txBody>
      </p:sp>
      <p:sp>
        <p:nvSpPr>
          <p:cNvPr id="7" name="Shape 5"/>
          <p:cNvSpPr/>
          <p:nvPr/>
        </p:nvSpPr>
        <p:spPr>
          <a:xfrm>
            <a:off x="3310128" y="1691640"/>
            <a:ext cx="2606040" cy="1554480"/>
          </a:xfrm>
          <a:prstGeom prst="roundRect">
            <a:avLst>
              <a:gd name="adj" fmla="val 5294"/>
            </a:avLst>
          </a:prstGeom>
          <a:solidFill>
            <a:srgbClr val="F4F7FA"/>
          </a:solidFill>
          <a:ln/>
        </p:spPr>
      </p:sp>
      <p:sp>
        <p:nvSpPr>
          <p:cNvPr id="8" name="Text 6"/>
          <p:cNvSpPr/>
          <p:nvPr/>
        </p:nvSpPr>
        <p:spPr>
          <a:xfrm>
            <a:off x="3447288" y="1828800"/>
            <a:ext cx="2331720" cy="777240"/>
          </a:xfrm>
          <a:prstGeom prst="rect">
            <a:avLst/>
          </a:prstGeom>
          <a:noFill/>
          <a:ln/>
        </p:spPr>
        <p:txBody>
          <a:bodyPr wrap="square" rtlCol="0" anchor="ctr"/>
          <a:lstStyle/>
          <a:p>
            <a:pPr algn="ctr" indent="0" marL="0">
              <a:buNone/>
            </a:pPr>
            <a:r>
              <a:rPr lang="en-US" sz="2600" b="1" dirty="0">
                <a:solidFill>
                  <a:srgbClr val="065A82"/>
                </a:solidFill>
                <a:latin typeface="Cambria" pitchFamily="34" charset="0"/>
                <a:ea typeface="Cambria" pitchFamily="34" charset="-122"/>
                <a:cs typeface="Cambria" pitchFamily="34" charset="-120"/>
              </a:rPr>
              <a:t>12.33 days</a:t>
            </a:r>
            <a:endParaRPr lang="en-US" sz="2600" dirty="0"/>
          </a:p>
        </p:txBody>
      </p:sp>
      <p:sp>
        <p:nvSpPr>
          <p:cNvPr id="9" name="Text 7"/>
          <p:cNvSpPr/>
          <p:nvPr/>
        </p:nvSpPr>
        <p:spPr>
          <a:xfrm>
            <a:off x="3447288" y="2633472"/>
            <a:ext cx="2331720" cy="457200"/>
          </a:xfrm>
          <a:prstGeom prst="rect">
            <a:avLst/>
          </a:prstGeom>
          <a:noFill/>
          <a:ln/>
        </p:spPr>
        <p:txBody>
          <a:bodyPr wrap="square" rtlCol="0" anchor="ctr"/>
          <a:lstStyle/>
          <a:p>
            <a:pPr algn="ctr" indent="0" marL="0">
              <a:buNone/>
            </a:pPr>
            <a:r>
              <a:rPr lang="en-US" sz="1150" dirty="0">
                <a:solidFill>
                  <a:srgbClr val="5B6472"/>
                </a:solidFill>
                <a:latin typeface="Calibri" pitchFamily="34" charset="0"/>
                <a:ea typeface="Calibri" pitchFamily="34" charset="-122"/>
                <a:cs typeface="Calibri" pitchFamily="34" charset="-120"/>
              </a:rPr>
              <a:t>avg. delivery time</a:t>
            </a:r>
            <a:endParaRPr lang="en-US" sz="1150" dirty="0"/>
          </a:p>
        </p:txBody>
      </p:sp>
      <p:sp>
        <p:nvSpPr>
          <p:cNvPr id="10" name="Shape 8"/>
          <p:cNvSpPr/>
          <p:nvPr/>
        </p:nvSpPr>
        <p:spPr>
          <a:xfrm>
            <a:off x="6071616" y="1691640"/>
            <a:ext cx="2606040" cy="1554480"/>
          </a:xfrm>
          <a:prstGeom prst="roundRect">
            <a:avLst>
              <a:gd name="adj" fmla="val 5294"/>
            </a:avLst>
          </a:prstGeom>
          <a:solidFill>
            <a:srgbClr val="F4F7FA"/>
          </a:solidFill>
          <a:ln/>
        </p:spPr>
      </p:sp>
      <p:sp>
        <p:nvSpPr>
          <p:cNvPr id="11" name="Text 9"/>
          <p:cNvSpPr/>
          <p:nvPr/>
        </p:nvSpPr>
        <p:spPr>
          <a:xfrm>
            <a:off x="6208776" y="1828800"/>
            <a:ext cx="2331720" cy="777240"/>
          </a:xfrm>
          <a:prstGeom prst="rect">
            <a:avLst/>
          </a:prstGeom>
          <a:noFill/>
          <a:ln/>
        </p:spPr>
        <p:txBody>
          <a:bodyPr wrap="square" rtlCol="0" anchor="ctr"/>
          <a:lstStyle/>
          <a:p>
            <a:pPr algn="ctr" indent="0" marL="0">
              <a:buNone/>
            </a:pPr>
            <a:r>
              <a:rPr lang="en-US" sz="2600" b="1" dirty="0">
                <a:solidFill>
                  <a:srgbClr val="065A82"/>
                </a:solidFill>
                <a:latin typeface="Cambria" pitchFamily="34" charset="0"/>
                <a:ea typeface="Cambria" pitchFamily="34" charset="-122"/>
                <a:cs typeface="Cambria" pitchFamily="34" charset="-120"/>
              </a:rPr>
              <a:t>26</a:t>
            </a:r>
            <a:endParaRPr lang="en-US" sz="2600" dirty="0"/>
          </a:p>
        </p:txBody>
      </p:sp>
      <p:sp>
        <p:nvSpPr>
          <p:cNvPr id="12" name="Text 10"/>
          <p:cNvSpPr/>
          <p:nvPr/>
        </p:nvSpPr>
        <p:spPr>
          <a:xfrm>
            <a:off x="6208776" y="2633472"/>
            <a:ext cx="2331720" cy="457200"/>
          </a:xfrm>
          <a:prstGeom prst="rect">
            <a:avLst/>
          </a:prstGeom>
          <a:noFill/>
          <a:ln/>
        </p:spPr>
        <p:txBody>
          <a:bodyPr wrap="square" rtlCol="0" anchor="ctr"/>
          <a:lstStyle/>
          <a:p>
            <a:pPr algn="ctr" indent="0" marL="0">
              <a:buNone/>
            </a:pPr>
            <a:r>
              <a:rPr lang="en-US" sz="1150" dirty="0">
                <a:solidFill>
                  <a:srgbClr val="5B6472"/>
                </a:solidFill>
                <a:latin typeface="Calibri" pitchFamily="34" charset="0"/>
                <a:ea typeface="Calibri" pitchFamily="34" charset="-122"/>
                <a:cs typeface="Calibri" pitchFamily="34" charset="-120"/>
              </a:rPr>
              <a:t>unique states</a:t>
            </a:r>
            <a:endParaRPr lang="en-US" sz="1150" dirty="0"/>
          </a:p>
        </p:txBody>
      </p:sp>
      <p:sp>
        <p:nvSpPr>
          <p:cNvPr id="13" name="Shape 11"/>
          <p:cNvSpPr/>
          <p:nvPr/>
        </p:nvSpPr>
        <p:spPr>
          <a:xfrm>
            <a:off x="8833104" y="1691640"/>
            <a:ext cx="2606040" cy="1554480"/>
          </a:xfrm>
          <a:prstGeom prst="roundRect">
            <a:avLst>
              <a:gd name="adj" fmla="val 5294"/>
            </a:avLst>
          </a:prstGeom>
          <a:solidFill>
            <a:srgbClr val="F4F7FA"/>
          </a:solidFill>
          <a:ln/>
        </p:spPr>
      </p:sp>
      <p:sp>
        <p:nvSpPr>
          <p:cNvPr id="14" name="Text 12"/>
          <p:cNvSpPr/>
          <p:nvPr/>
        </p:nvSpPr>
        <p:spPr>
          <a:xfrm>
            <a:off x="8970264" y="1828800"/>
            <a:ext cx="2331720" cy="777240"/>
          </a:xfrm>
          <a:prstGeom prst="rect">
            <a:avLst/>
          </a:prstGeom>
          <a:noFill/>
          <a:ln/>
        </p:spPr>
        <p:txBody>
          <a:bodyPr wrap="square" rtlCol="0" anchor="ctr"/>
          <a:lstStyle/>
          <a:p>
            <a:pPr algn="ctr" indent="0" marL="0">
              <a:buNone/>
            </a:pPr>
            <a:r>
              <a:rPr lang="en-US" sz="2600" b="1" dirty="0">
                <a:solidFill>
                  <a:srgbClr val="065A82"/>
                </a:solidFill>
                <a:latin typeface="Cambria" pitchFamily="34" charset="0"/>
                <a:ea typeface="Cambria" pitchFamily="34" charset="-122"/>
                <a:cs typeface="Cambria" pitchFamily="34" charset="-120"/>
              </a:rPr>
              <a:t>98.3%</a:t>
            </a:r>
            <a:endParaRPr lang="en-US" sz="2600" dirty="0"/>
          </a:p>
        </p:txBody>
      </p:sp>
      <p:sp>
        <p:nvSpPr>
          <p:cNvPr id="15" name="Text 13"/>
          <p:cNvSpPr/>
          <p:nvPr/>
        </p:nvSpPr>
        <p:spPr>
          <a:xfrm>
            <a:off x="8970264" y="2633472"/>
            <a:ext cx="2331720" cy="457200"/>
          </a:xfrm>
          <a:prstGeom prst="rect">
            <a:avLst/>
          </a:prstGeom>
          <a:noFill/>
          <a:ln/>
        </p:spPr>
        <p:txBody>
          <a:bodyPr wrap="square" rtlCol="0" anchor="ctr"/>
          <a:lstStyle/>
          <a:p>
            <a:pPr algn="ctr" indent="0" marL="0">
              <a:buNone/>
            </a:pPr>
            <a:r>
              <a:rPr lang="en-US" sz="1150" dirty="0">
                <a:solidFill>
                  <a:srgbClr val="5B6472"/>
                </a:solidFill>
                <a:latin typeface="Calibri" pitchFamily="34" charset="0"/>
                <a:ea typeface="Calibri" pitchFamily="34" charset="-122"/>
                <a:cs typeface="Calibri" pitchFamily="34" charset="-120"/>
              </a:rPr>
              <a:t>orders delivered</a:t>
            </a:r>
            <a:endParaRPr lang="en-US" sz="1150" dirty="0"/>
          </a:p>
        </p:txBody>
      </p:sp>
      <p:sp>
        <p:nvSpPr>
          <p:cNvPr id="16" name="Shape 14"/>
          <p:cNvSpPr/>
          <p:nvPr/>
        </p:nvSpPr>
        <p:spPr>
          <a:xfrm>
            <a:off x="548640" y="3520440"/>
            <a:ext cx="11064240" cy="2331720"/>
          </a:xfrm>
          <a:prstGeom prst="roundRect">
            <a:avLst>
              <a:gd name="adj" fmla="val 3922"/>
            </a:avLst>
          </a:prstGeom>
          <a:solidFill>
            <a:srgbClr val="21295C"/>
          </a:solidFill>
          <a:ln/>
        </p:spPr>
      </p:sp>
      <p:sp>
        <p:nvSpPr>
          <p:cNvPr id="17" name="Shape 15"/>
          <p:cNvSpPr/>
          <p:nvPr/>
        </p:nvSpPr>
        <p:spPr>
          <a:xfrm>
            <a:off x="868680" y="3794760"/>
            <a:ext cx="502920" cy="502920"/>
          </a:xfrm>
          <a:prstGeom prst="ellipse">
            <a:avLst/>
          </a:prstGeom>
          <a:solidFill>
            <a:srgbClr val="1C7293"/>
          </a:solidFill>
          <a:ln/>
        </p:spPr>
      </p:sp>
      <p:pic>
        <p:nvPicPr>
          <p:cNvPr id="18" name="Image 0" descr="preencoded.png">    </p:cNvPr>
          <p:cNvPicPr>
            <a:picLocks noChangeAspect="1"/>
          </p:cNvPicPr>
          <p:nvPr/>
        </p:nvPicPr>
        <p:blipFill>
          <a:blip r:embed="rId1"/>
          <a:stretch>
            <a:fillRect/>
          </a:stretch>
        </p:blipFill>
        <p:spPr>
          <a:xfrm>
            <a:off x="999439" y="3925519"/>
            <a:ext cx="241402" cy="241402"/>
          </a:xfrm>
          <a:prstGeom prst="rect">
            <a:avLst/>
          </a:prstGeom>
        </p:spPr>
      </p:pic>
      <p:sp>
        <p:nvSpPr>
          <p:cNvPr id="19" name="Text 16"/>
          <p:cNvSpPr/>
          <p:nvPr/>
        </p:nvSpPr>
        <p:spPr>
          <a:xfrm>
            <a:off x="1508760" y="3794760"/>
            <a:ext cx="8229600" cy="50292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bug this step caught: inconsistent city casing</a:t>
            </a:r>
            <a:endParaRPr lang="en-US" sz="1500" dirty="0"/>
          </a:p>
        </p:txBody>
      </p:sp>
      <p:sp>
        <p:nvSpPr>
          <p:cNvPr id="20" name="Text 17"/>
          <p:cNvSpPr/>
          <p:nvPr/>
        </p:nvSpPr>
        <p:spPr>
          <a:xfrm>
            <a:off x="1508760" y="4343400"/>
            <a:ext cx="9692640" cy="1371600"/>
          </a:xfrm>
          <a:prstGeom prst="rect">
            <a:avLst/>
          </a:prstGeom>
          <a:noFill/>
          <a:ln/>
        </p:spPr>
        <p:txBody>
          <a:bodyPr wrap="square" rtlCol="0" anchor="ctr"/>
          <a:lstStyle/>
          <a:p>
            <a:pPr indent="0" marL="0">
              <a:lnSpc>
                <a:spcPct val="130000"/>
              </a:lnSpc>
              <a:buNone/>
            </a:pPr>
            <a:r>
              <a:rPr lang="en-US" sz="1300" dirty="0">
                <a:solidFill>
                  <a:srgbClr val="D7DEEA"/>
                </a:solidFill>
                <a:latin typeface="Calibri" pitchFamily="34" charset="0"/>
                <a:ea typeface="Calibri" pitchFamily="34" charset="-122"/>
                <a:cs typeface="Calibri" pitchFamily="34" charset="-120"/>
              </a:rPr>
              <a:t>"SAO PAULO" and "Sao Paulo" look like two different cities to a computer. Grouping on the raw text undercounted the top city by 4% — 143 orders instead of the true 149. Fixed by normalizing case before any aggregation. A 4% error on the headline number is the kind of thing nobody notices for months.</a:t>
            </a:r>
            <a:endParaRPr lang="en-US" sz="1300" dirty="0"/>
          </a:p>
        </p:txBody>
      </p:sp>
      <p:sp>
        <p:nvSpPr>
          <p:cNvPr id="21" name="Text 18"/>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A7AFBD"/>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RESULTS — THE BUSINESS QUESTIONS</a:t>
            </a:r>
            <a:endParaRPr lang="en-US" sz="1250" dirty="0"/>
          </a:p>
        </p:txBody>
      </p:sp>
      <p:sp>
        <p:nvSpPr>
          <p:cNvPr id="3" name="Text 1"/>
          <p:cNvSpPr/>
          <p:nvPr/>
        </p:nvSpPr>
        <p:spPr>
          <a:xfrm>
            <a:off x="548640" y="658368"/>
            <a:ext cx="10789920" cy="822960"/>
          </a:xfrm>
          <a:prstGeom prst="rect">
            <a:avLst/>
          </a:prstGeom>
          <a:noFill/>
          <a:ln/>
        </p:spPr>
        <p:txBody>
          <a:bodyPr wrap="square" rtlCol="0" anchor="ctr"/>
          <a:lstStyle/>
          <a:p>
            <a:pPr indent="0" marL="0">
              <a:buNone/>
            </a:pPr>
            <a:r>
              <a:rPr lang="en-US" sz="3000" b="1" dirty="0">
                <a:solidFill>
                  <a:srgbClr val="1B1F2A"/>
                </a:solidFill>
                <a:latin typeface="Cambria" pitchFamily="34" charset="0"/>
                <a:ea typeface="Cambria" pitchFamily="34" charset="-122"/>
                <a:cs typeface="Cambria" pitchFamily="34" charset="-120"/>
              </a:rPr>
              <a:t>Top cities and what drives cost</a:t>
            </a:r>
            <a:endParaRPr lang="en-US" sz="3000" dirty="0"/>
          </a:p>
        </p:txBody>
      </p:sp>
      <p:sp>
        <p:nvSpPr>
          <p:cNvPr id="4" name="Text 2"/>
          <p:cNvSpPr/>
          <p:nvPr/>
        </p:nvSpPr>
        <p:spPr>
          <a:xfrm>
            <a:off x="548640" y="1600200"/>
            <a:ext cx="5486400" cy="365760"/>
          </a:xfrm>
          <a:prstGeom prst="rect">
            <a:avLst/>
          </a:prstGeom>
          <a:noFill/>
          <a:ln/>
        </p:spPr>
        <p:txBody>
          <a:bodyPr wrap="square" rtlCol="0" anchor="ctr"/>
          <a:lstStyle/>
          <a:p>
            <a:pPr indent="0" marL="0">
              <a:buNone/>
            </a:pPr>
            <a:r>
              <a:rPr lang="en-US" sz="1500" b="1" dirty="0">
                <a:solidFill>
                  <a:srgbClr val="1B1F2A"/>
                </a:solidFill>
                <a:latin typeface="Calibri" pitchFamily="34" charset="0"/>
                <a:ea typeface="Calibri" pitchFamily="34" charset="-122"/>
                <a:cs typeface="Calibri" pitchFamily="34" charset="-120"/>
              </a:rPr>
              <a:t>Top cities by revenue</a:t>
            </a:r>
            <a:endParaRPr lang="en-US" sz="1500" dirty="0"/>
          </a:p>
        </p:txBody>
      </p:sp>
      <p:sp>
        <p:nvSpPr>
          <p:cNvPr id="5" name="Shape 3"/>
          <p:cNvSpPr/>
          <p:nvPr/>
        </p:nvSpPr>
        <p:spPr>
          <a:xfrm>
            <a:off x="548640" y="2057400"/>
            <a:ext cx="5486400" cy="566928"/>
          </a:xfrm>
          <a:prstGeom prst="roundRect">
            <a:avLst>
              <a:gd name="adj" fmla="val 9677"/>
            </a:avLst>
          </a:prstGeom>
          <a:solidFill>
            <a:srgbClr val="F4F7FA"/>
          </a:solidFill>
          <a:ln/>
        </p:spPr>
      </p:sp>
      <p:sp>
        <p:nvSpPr>
          <p:cNvPr id="6" name="Text 4"/>
          <p:cNvSpPr/>
          <p:nvPr/>
        </p:nvSpPr>
        <p:spPr>
          <a:xfrm>
            <a:off x="777240" y="2057400"/>
            <a:ext cx="3474720" cy="566928"/>
          </a:xfrm>
          <a:prstGeom prst="rect">
            <a:avLst/>
          </a:prstGeom>
          <a:noFill/>
          <a:ln/>
        </p:spPr>
        <p:txBody>
          <a:bodyPr wrap="square" rtlCol="0" anchor="ctr"/>
          <a:lstStyle/>
          <a:p>
            <a:pPr indent="0" marL="0">
              <a:buNone/>
            </a:pPr>
            <a:r>
              <a:rPr lang="en-US" sz="1300" dirty="0">
                <a:solidFill>
                  <a:srgbClr val="1B1F2A"/>
                </a:solidFill>
                <a:latin typeface="Calibri" pitchFamily="34" charset="0"/>
                <a:ea typeface="Calibri" pitchFamily="34" charset="-122"/>
                <a:cs typeface="Calibri" pitchFamily="34" charset="-120"/>
              </a:rPr>
              <a:t>Sao Paulo</a:t>
            </a:r>
            <a:endParaRPr lang="en-US" sz="1300" dirty="0"/>
          </a:p>
        </p:txBody>
      </p:sp>
      <p:sp>
        <p:nvSpPr>
          <p:cNvPr id="7" name="Text 5"/>
          <p:cNvSpPr/>
          <p:nvPr/>
        </p:nvSpPr>
        <p:spPr>
          <a:xfrm>
            <a:off x="4206240" y="2057400"/>
            <a:ext cx="1645920" cy="566928"/>
          </a:xfrm>
          <a:prstGeom prst="rect">
            <a:avLst/>
          </a:prstGeom>
          <a:noFill/>
          <a:ln/>
        </p:spPr>
        <p:txBody>
          <a:bodyPr wrap="square" rtlCol="0" anchor="ctr"/>
          <a:lstStyle/>
          <a:p>
            <a:pPr algn="r" indent="0" marL="0">
              <a:buNone/>
            </a:pPr>
            <a:r>
              <a:rPr lang="en-US" sz="1300" b="1" dirty="0">
                <a:solidFill>
                  <a:srgbClr val="065A82"/>
                </a:solidFill>
                <a:latin typeface="Calibri" pitchFamily="34" charset="0"/>
                <a:ea typeface="Calibri" pitchFamily="34" charset="-122"/>
                <a:cs typeface="Calibri" pitchFamily="34" charset="-120"/>
              </a:rPr>
              <a:t>18,959</a:t>
            </a:r>
            <a:endParaRPr lang="en-US" sz="1300" dirty="0"/>
          </a:p>
        </p:txBody>
      </p:sp>
      <p:sp>
        <p:nvSpPr>
          <p:cNvPr id="8" name="Shape 6"/>
          <p:cNvSpPr/>
          <p:nvPr/>
        </p:nvSpPr>
        <p:spPr>
          <a:xfrm>
            <a:off x="548640" y="2679192"/>
            <a:ext cx="5486400" cy="566928"/>
          </a:xfrm>
          <a:prstGeom prst="roundRect">
            <a:avLst>
              <a:gd name="adj" fmla="val 9677"/>
            </a:avLst>
          </a:prstGeom>
          <a:solidFill>
            <a:srgbClr val="FFFFFF"/>
          </a:solidFill>
          <a:ln/>
        </p:spPr>
      </p:sp>
      <p:sp>
        <p:nvSpPr>
          <p:cNvPr id="9" name="Text 7"/>
          <p:cNvSpPr/>
          <p:nvPr/>
        </p:nvSpPr>
        <p:spPr>
          <a:xfrm>
            <a:off x="777240" y="2679192"/>
            <a:ext cx="3474720" cy="566928"/>
          </a:xfrm>
          <a:prstGeom prst="rect">
            <a:avLst/>
          </a:prstGeom>
          <a:noFill/>
          <a:ln/>
        </p:spPr>
        <p:txBody>
          <a:bodyPr wrap="square" rtlCol="0" anchor="ctr"/>
          <a:lstStyle/>
          <a:p>
            <a:pPr indent="0" marL="0">
              <a:buNone/>
            </a:pPr>
            <a:r>
              <a:rPr lang="en-US" sz="1300" dirty="0">
                <a:solidFill>
                  <a:srgbClr val="1B1F2A"/>
                </a:solidFill>
                <a:latin typeface="Calibri" pitchFamily="34" charset="0"/>
                <a:ea typeface="Calibri" pitchFamily="34" charset="-122"/>
                <a:cs typeface="Calibri" pitchFamily="34" charset="-120"/>
              </a:rPr>
              <a:t>Rio De Janeiro</a:t>
            </a:r>
            <a:endParaRPr lang="en-US" sz="1300" dirty="0"/>
          </a:p>
        </p:txBody>
      </p:sp>
      <p:sp>
        <p:nvSpPr>
          <p:cNvPr id="10" name="Text 8"/>
          <p:cNvSpPr/>
          <p:nvPr/>
        </p:nvSpPr>
        <p:spPr>
          <a:xfrm>
            <a:off x="4206240" y="2679192"/>
            <a:ext cx="1645920" cy="566928"/>
          </a:xfrm>
          <a:prstGeom prst="rect">
            <a:avLst/>
          </a:prstGeom>
          <a:noFill/>
          <a:ln/>
        </p:spPr>
        <p:txBody>
          <a:bodyPr wrap="square" rtlCol="0" anchor="ctr"/>
          <a:lstStyle/>
          <a:p>
            <a:pPr algn="r" indent="0" marL="0">
              <a:buNone/>
            </a:pPr>
            <a:r>
              <a:rPr lang="en-US" sz="1300" b="1" dirty="0">
                <a:solidFill>
                  <a:srgbClr val="065A82"/>
                </a:solidFill>
                <a:latin typeface="Calibri" pitchFamily="34" charset="0"/>
                <a:ea typeface="Calibri" pitchFamily="34" charset="-122"/>
                <a:cs typeface="Calibri" pitchFamily="34" charset="-120"/>
              </a:rPr>
              <a:t>13,230</a:t>
            </a:r>
            <a:endParaRPr lang="en-US" sz="1300" dirty="0"/>
          </a:p>
        </p:txBody>
      </p:sp>
      <p:sp>
        <p:nvSpPr>
          <p:cNvPr id="11" name="Shape 9"/>
          <p:cNvSpPr/>
          <p:nvPr/>
        </p:nvSpPr>
        <p:spPr>
          <a:xfrm>
            <a:off x="548640" y="3300984"/>
            <a:ext cx="5486400" cy="566928"/>
          </a:xfrm>
          <a:prstGeom prst="roundRect">
            <a:avLst>
              <a:gd name="adj" fmla="val 9677"/>
            </a:avLst>
          </a:prstGeom>
          <a:solidFill>
            <a:srgbClr val="F4F7FA"/>
          </a:solidFill>
          <a:ln/>
        </p:spPr>
      </p:sp>
      <p:sp>
        <p:nvSpPr>
          <p:cNvPr id="12" name="Text 10"/>
          <p:cNvSpPr/>
          <p:nvPr/>
        </p:nvSpPr>
        <p:spPr>
          <a:xfrm>
            <a:off x="777240" y="3300984"/>
            <a:ext cx="3474720" cy="566928"/>
          </a:xfrm>
          <a:prstGeom prst="rect">
            <a:avLst/>
          </a:prstGeom>
          <a:noFill/>
          <a:ln/>
        </p:spPr>
        <p:txBody>
          <a:bodyPr wrap="square" rtlCol="0" anchor="ctr"/>
          <a:lstStyle/>
          <a:p>
            <a:pPr indent="0" marL="0">
              <a:buNone/>
            </a:pPr>
            <a:r>
              <a:rPr lang="en-US" sz="1300" dirty="0">
                <a:solidFill>
                  <a:srgbClr val="1B1F2A"/>
                </a:solidFill>
                <a:latin typeface="Calibri" pitchFamily="34" charset="0"/>
                <a:ea typeface="Calibri" pitchFamily="34" charset="-122"/>
                <a:cs typeface="Calibri" pitchFamily="34" charset="-120"/>
              </a:rPr>
              <a:t>Belo Horizonte</a:t>
            </a:r>
            <a:endParaRPr lang="en-US" sz="1300" dirty="0"/>
          </a:p>
        </p:txBody>
      </p:sp>
      <p:sp>
        <p:nvSpPr>
          <p:cNvPr id="13" name="Text 11"/>
          <p:cNvSpPr/>
          <p:nvPr/>
        </p:nvSpPr>
        <p:spPr>
          <a:xfrm>
            <a:off x="4206240" y="3300984"/>
            <a:ext cx="1645920" cy="566928"/>
          </a:xfrm>
          <a:prstGeom prst="rect">
            <a:avLst/>
          </a:prstGeom>
          <a:noFill/>
          <a:ln/>
        </p:spPr>
        <p:txBody>
          <a:bodyPr wrap="square" rtlCol="0" anchor="ctr"/>
          <a:lstStyle/>
          <a:p>
            <a:pPr algn="r" indent="0" marL="0">
              <a:buNone/>
            </a:pPr>
            <a:r>
              <a:rPr lang="en-US" sz="1300" b="1" dirty="0">
                <a:solidFill>
                  <a:srgbClr val="065A82"/>
                </a:solidFill>
                <a:latin typeface="Calibri" pitchFamily="34" charset="0"/>
                <a:ea typeface="Calibri" pitchFamily="34" charset="-122"/>
                <a:cs typeface="Calibri" pitchFamily="34" charset="-120"/>
              </a:rPr>
              <a:t>4,084</a:t>
            </a:r>
            <a:endParaRPr lang="en-US" sz="1300" dirty="0"/>
          </a:p>
        </p:txBody>
      </p:sp>
      <p:sp>
        <p:nvSpPr>
          <p:cNvPr id="14" name="Shape 12"/>
          <p:cNvSpPr/>
          <p:nvPr/>
        </p:nvSpPr>
        <p:spPr>
          <a:xfrm>
            <a:off x="548640" y="3922776"/>
            <a:ext cx="5486400" cy="566928"/>
          </a:xfrm>
          <a:prstGeom prst="roundRect">
            <a:avLst>
              <a:gd name="adj" fmla="val 9677"/>
            </a:avLst>
          </a:prstGeom>
          <a:solidFill>
            <a:srgbClr val="FFFFFF"/>
          </a:solidFill>
          <a:ln/>
        </p:spPr>
      </p:sp>
      <p:sp>
        <p:nvSpPr>
          <p:cNvPr id="15" name="Text 13"/>
          <p:cNvSpPr/>
          <p:nvPr/>
        </p:nvSpPr>
        <p:spPr>
          <a:xfrm>
            <a:off x="777240" y="3922776"/>
            <a:ext cx="3474720" cy="566928"/>
          </a:xfrm>
          <a:prstGeom prst="rect">
            <a:avLst/>
          </a:prstGeom>
          <a:noFill/>
          <a:ln/>
        </p:spPr>
        <p:txBody>
          <a:bodyPr wrap="square" rtlCol="0" anchor="ctr"/>
          <a:lstStyle/>
          <a:p>
            <a:pPr indent="0" marL="0">
              <a:buNone/>
            </a:pPr>
            <a:r>
              <a:rPr lang="en-US" sz="1300" dirty="0">
                <a:solidFill>
                  <a:srgbClr val="1B1F2A"/>
                </a:solidFill>
                <a:latin typeface="Calibri" pitchFamily="34" charset="0"/>
                <a:ea typeface="Calibri" pitchFamily="34" charset="-122"/>
                <a:cs typeface="Calibri" pitchFamily="34" charset="-120"/>
              </a:rPr>
              <a:t>Brasilia</a:t>
            </a:r>
            <a:endParaRPr lang="en-US" sz="1300" dirty="0"/>
          </a:p>
        </p:txBody>
      </p:sp>
      <p:sp>
        <p:nvSpPr>
          <p:cNvPr id="16" name="Text 14"/>
          <p:cNvSpPr/>
          <p:nvPr/>
        </p:nvSpPr>
        <p:spPr>
          <a:xfrm>
            <a:off x="4206240" y="3922776"/>
            <a:ext cx="1645920" cy="566928"/>
          </a:xfrm>
          <a:prstGeom prst="rect">
            <a:avLst/>
          </a:prstGeom>
          <a:noFill/>
          <a:ln/>
        </p:spPr>
        <p:txBody>
          <a:bodyPr wrap="square" rtlCol="0" anchor="ctr"/>
          <a:lstStyle/>
          <a:p>
            <a:pPr algn="r" indent="0" marL="0">
              <a:buNone/>
            </a:pPr>
            <a:r>
              <a:rPr lang="en-US" sz="1300" b="1" dirty="0">
                <a:solidFill>
                  <a:srgbClr val="065A82"/>
                </a:solidFill>
                <a:latin typeface="Calibri" pitchFamily="34" charset="0"/>
                <a:ea typeface="Calibri" pitchFamily="34" charset="-122"/>
                <a:cs typeface="Calibri" pitchFamily="34" charset="-120"/>
              </a:rPr>
              <a:t>2,653</a:t>
            </a:r>
            <a:endParaRPr lang="en-US" sz="1300" dirty="0"/>
          </a:p>
        </p:txBody>
      </p:sp>
      <p:sp>
        <p:nvSpPr>
          <p:cNvPr id="17" name="Shape 15"/>
          <p:cNvSpPr/>
          <p:nvPr/>
        </p:nvSpPr>
        <p:spPr>
          <a:xfrm>
            <a:off x="548640" y="4544568"/>
            <a:ext cx="5486400" cy="566928"/>
          </a:xfrm>
          <a:prstGeom prst="roundRect">
            <a:avLst>
              <a:gd name="adj" fmla="val 9677"/>
            </a:avLst>
          </a:prstGeom>
          <a:solidFill>
            <a:srgbClr val="F4F7FA"/>
          </a:solidFill>
          <a:ln/>
        </p:spPr>
      </p:sp>
      <p:sp>
        <p:nvSpPr>
          <p:cNvPr id="18" name="Text 16"/>
          <p:cNvSpPr/>
          <p:nvPr/>
        </p:nvSpPr>
        <p:spPr>
          <a:xfrm>
            <a:off x="777240" y="4544568"/>
            <a:ext cx="3474720" cy="566928"/>
          </a:xfrm>
          <a:prstGeom prst="rect">
            <a:avLst/>
          </a:prstGeom>
          <a:noFill/>
          <a:ln/>
        </p:spPr>
        <p:txBody>
          <a:bodyPr wrap="square" rtlCol="0" anchor="ctr"/>
          <a:lstStyle/>
          <a:p>
            <a:pPr indent="0" marL="0">
              <a:buNone/>
            </a:pPr>
            <a:r>
              <a:rPr lang="en-US" sz="1300" dirty="0">
                <a:solidFill>
                  <a:srgbClr val="1B1F2A"/>
                </a:solidFill>
                <a:latin typeface="Calibri" pitchFamily="34" charset="0"/>
                <a:ea typeface="Calibri" pitchFamily="34" charset="-122"/>
                <a:cs typeface="Calibri" pitchFamily="34" charset="-120"/>
              </a:rPr>
              <a:t>Curitiba</a:t>
            </a:r>
            <a:endParaRPr lang="en-US" sz="1300" dirty="0"/>
          </a:p>
        </p:txBody>
      </p:sp>
      <p:sp>
        <p:nvSpPr>
          <p:cNvPr id="19" name="Text 17"/>
          <p:cNvSpPr/>
          <p:nvPr/>
        </p:nvSpPr>
        <p:spPr>
          <a:xfrm>
            <a:off x="4206240" y="4544568"/>
            <a:ext cx="1645920" cy="566928"/>
          </a:xfrm>
          <a:prstGeom prst="rect">
            <a:avLst/>
          </a:prstGeom>
          <a:noFill/>
          <a:ln/>
        </p:spPr>
        <p:txBody>
          <a:bodyPr wrap="square" rtlCol="0" anchor="ctr"/>
          <a:lstStyle/>
          <a:p>
            <a:pPr algn="r" indent="0" marL="0">
              <a:buNone/>
            </a:pPr>
            <a:r>
              <a:rPr lang="en-US" sz="1300" b="1" dirty="0">
                <a:solidFill>
                  <a:srgbClr val="065A82"/>
                </a:solidFill>
                <a:latin typeface="Calibri" pitchFamily="34" charset="0"/>
                <a:ea typeface="Calibri" pitchFamily="34" charset="-122"/>
                <a:cs typeface="Calibri" pitchFamily="34" charset="-120"/>
              </a:rPr>
              <a:t>2,607</a:t>
            </a:r>
            <a:endParaRPr lang="en-US" sz="1300" dirty="0"/>
          </a:p>
        </p:txBody>
      </p:sp>
      <p:sp>
        <p:nvSpPr>
          <p:cNvPr id="20" name="Text 18"/>
          <p:cNvSpPr/>
          <p:nvPr/>
        </p:nvSpPr>
        <p:spPr>
          <a:xfrm>
            <a:off x="6492240" y="1600200"/>
            <a:ext cx="5120640" cy="365760"/>
          </a:xfrm>
          <a:prstGeom prst="rect">
            <a:avLst/>
          </a:prstGeom>
          <a:noFill/>
          <a:ln/>
        </p:spPr>
        <p:txBody>
          <a:bodyPr wrap="square" rtlCol="0" anchor="ctr"/>
          <a:lstStyle/>
          <a:p>
            <a:pPr indent="0" marL="0">
              <a:buNone/>
            </a:pPr>
            <a:r>
              <a:rPr lang="en-US" sz="1500" b="1" dirty="0">
                <a:solidFill>
                  <a:srgbClr val="1B1F2A"/>
                </a:solidFill>
                <a:latin typeface="Calibri" pitchFamily="34" charset="0"/>
                <a:ea typeface="Calibri" pitchFamily="34" charset="-122"/>
                <a:cs typeface="Calibri" pitchFamily="34" charset="-120"/>
              </a:rPr>
              <a:t>What correlates with what</a:t>
            </a:r>
            <a:endParaRPr lang="en-US" sz="1500" dirty="0"/>
          </a:p>
        </p:txBody>
      </p:sp>
      <p:sp>
        <p:nvSpPr>
          <p:cNvPr id="21" name="Shape 19"/>
          <p:cNvSpPr/>
          <p:nvPr/>
        </p:nvSpPr>
        <p:spPr>
          <a:xfrm>
            <a:off x="6492240" y="2057400"/>
            <a:ext cx="5120640" cy="960120"/>
          </a:xfrm>
          <a:prstGeom prst="roundRect">
            <a:avLst>
              <a:gd name="adj" fmla="val 7619"/>
            </a:avLst>
          </a:prstGeom>
          <a:solidFill>
            <a:srgbClr val="F4F7FA"/>
          </a:solidFill>
          <a:ln/>
        </p:spPr>
      </p:sp>
      <p:sp>
        <p:nvSpPr>
          <p:cNvPr id="22" name="Text 20"/>
          <p:cNvSpPr/>
          <p:nvPr/>
        </p:nvSpPr>
        <p:spPr>
          <a:xfrm>
            <a:off x="6675120" y="2148840"/>
            <a:ext cx="1188720" cy="777240"/>
          </a:xfrm>
          <a:prstGeom prst="rect">
            <a:avLst/>
          </a:prstGeom>
          <a:noFill/>
          <a:ln/>
        </p:spPr>
        <p:txBody>
          <a:bodyPr wrap="square" rtlCol="0" anchor="ctr"/>
          <a:lstStyle/>
          <a:p>
            <a:pPr algn="ctr" indent="0" marL="0">
              <a:buNone/>
            </a:pPr>
            <a:r>
              <a:rPr lang="en-US" sz="2200" b="1" dirty="0">
                <a:solidFill>
                  <a:srgbClr val="1C7293"/>
                </a:solidFill>
                <a:latin typeface="Cambria" pitchFamily="34" charset="0"/>
                <a:ea typeface="Cambria" pitchFamily="34" charset="-122"/>
                <a:cs typeface="Cambria" pitchFamily="34" charset="-120"/>
              </a:rPr>
              <a:t>0.63</a:t>
            </a:r>
            <a:endParaRPr lang="en-US" sz="2200" dirty="0"/>
          </a:p>
        </p:txBody>
      </p:sp>
      <p:sp>
        <p:nvSpPr>
          <p:cNvPr id="23" name="Text 21"/>
          <p:cNvSpPr/>
          <p:nvPr/>
        </p:nvSpPr>
        <p:spPr>
          <a:xfrm>
            <a:off x="7955280" y="2148840"/>
            <a:ext cx="3566160" cy="365760"/>
          </a:xfrm>
          <a:prstGeom prst="rect">
            <a:avLst/>
          </a:prstGeom>
          <a:noFill/>
          <a:ln/>
        </p:spPr>
        <p:txBody>
          <a:bodyPr wrap="square" rtlCol="0" anchor="ctr"/>
          <a:lstStyle/>
          <a:p>
            <a:pPr indent="0" marL="0">
              <a:buNone/>
            </a:pPr>
            <a:r>
              <a:rPr lang="en-US" sz="1250" b="1" dirty="0">
                <a:solidFill>
                  <a:srgbClr val="1B1F2A"/>
                </a:solidFill>
                <a:latin typeface="Calibri" pitchFamily="34" charset="0"/>
                <a:ea typeface="Calibri" pitchFamily="34" charset="-122"/>
                <a:cs typeface="Calibri" pitchFamily="34" charset="-120"/>
              </a:rPr>
              <a:t>Freight ↔ Item quantity</a:t>
            </a:r>
            <a:endParaRPr lang="en-US" sz="1250" dirty="0"/>
          </a:p>
        </p:txBody>
      </p:sp>
      <p:sp>
        <p:nvSpPr>
          <p:cNvPr id="24" name="Text 22"/>
          <p:cNvSpPr/>
          <p:nvPr/>
        </p:nvSpPr>
        <p:spPr>
          <a:xfrm>
            <a:off x="7955280" y="2496312"/>
            <a:ext cx="3566160" cy="457200"/>
          </a:xfrm>
          <a:prstGeom prst="rect">
            <a:avLst/>
          </a:prstGeom>
          <a:noFill/>
          <a:ln/>
        </p:spPr>
        <p:txBody>
          <a:bodyPr wrap="square" rtlCol="0" anchor="ctr"/>
          <a:lstStyle/>
          <a:p>
            <a:pPr indent="0" marL="0">
              <a:buNone/>
            </a:pPr>
            <a:r>
              <a:rPr lang="en-US" sz="1100" dirty="0">
                <a:solidFill>
                  <a:srgbClr val="5B6472"/>
                </a:solidFill>
                <a:latin typeface="Calibri" pitchFamily="34" charset="0"/>
                <a:ea typeface="Calibri" pitchFamily="34" charset="-122"/>
                <a:cs typeface="Calibri" pitchFamily="34" charset="-120"/>
              </a:rPr>
              <a:t>strongest — more items, heavier box</a:t>
            </a:r>
            <a:endParaRPr lang="en-US" sz="1100" dirty="0"/>
          </a:p>
        </p:txBody>
      </p:sp>
      <p:sp>
        <p:nvSpPr>
          <p:cNvPr id="25" name="Shape 23"/>
          <p:cNvSpPr/>
          <p:nvPr/>
        </p:nvSpPr>
        <p:spPr>
          <a:xfrm>
            <a:off x="6492240" y="3154680"/>
            <a:ext cx="5120640" cy="960120"/>
          </a:xfrm>
          <a:prstGeom prst="roundRect">
            <a:avLst>
              <a:gd name="adj" fmla="val 7619"/>
            </a:avLst>
          </a:prstGeom>
          <a:solidFill>
            <a:srgbClr val="F4F7FA"/>
          </a:solidFill>
          <a:ln/>
        </p:spPr>
      </p:sp>
      <p:sp>
        <p:nvSpPr>
          <p:cNvPr id="26" name="Text 24"/>
          <p:cNvSpPr/>
          <p:nvPr/>
        </p:nvSpPr>
        <p:spPr>
          <a:xfrm>
            <a:off x="6675120" y="3246120"/>
            <a:ext cx="1188720" cy="777240"/>
          </a:xfrm>
          <a:prstGeom prst="rect">
            <a:avLst/>
          </a:prstGeom>
          <a:noFill/>
          <a:ln/>
        </p:spPr>
        <p:txBody>
          <a:bodyPr wrap="square" rtlCol="0" anchor="ctr"/>
          <a:lstStyle/>
          <a:p>
            <a:pPr algn="ctr" indent="0" marL="0">
              <a:buNone/>
            </a:pPr>
            <a:r>
              <a:rPr lang="en-US" sz="2200" b="1" dirty="0">
                <a:solidFill>
                  <a:srgbClr val="1C7293"/>
                </a:solidFill>
                <a:latin typeface="Cambria" pitchFamily="34" charset="0"/>
                <a:ea typeface="Cambria" pitchFamily="34" charset="-122"/>
                <a:cs typeface="Cambria" pitchFamily="34" charset="-120"/>
              </a:rPr>
              <a:t>0.47</a:t>
            </a:r>
            <a:endParaRPr lang="en-US" sz="2200" dirty="0"/>
          </a:p>
        </p:txBody>
      </p:sp>
      <p:sp>
        <p:nvSpPr>
          <p:cNvPr id="27" name="Text 25"/>
          <p:cNvSpPr/>
          <p:nvPr/>
        </p:nvSpPr>
        <p:spPr>
          <a:xfrm>
            <a:off x="7955280" y="3246120"/>
            <a:ext cx="3566160" cy="365760"/>
          </a:xfrm>
          <a:prstGeom prst="rect">
            <a:avLst/>
          </a:prstGeom>
          <a:noFill/>
          <a:ln/>
        </p:spPr>
        <p:txBody>
          <a:bodyPr wrap="square" rtlCol="0" anchor="ctr"/>
          <a:lstStyle/>
          <a:p>
            <a:pPr indent="0" marL="0">
              <a:buNone/>
            </a:pPr>
            <a:r>
              <a:rPr lang="en-US" sz="1250" b="1" dirty="0">
                <a:solidFill>
                  <a:srgbClr val="1B1F2A"/>
                </a:solidFill>
                <a:latin typeface="Calibri" pitchFamily="34" charset="0"/>
                <a:ea typeface="Calibri" pitchFamily="34" charset="-122"/>
                <a:cs typeface="Calibri" pitchFamily="34" charset="-120"/>
              </a:rPr>
              <a:t>Product value ↔ Freight</a:t>
            </a:r>
            <a:endParaRPr lang="en-US" sz="1250" dirty="0"/>
          </a:p>
        </p:txBody>
      </p:sp>
      <p:sp>
        <p:nvSpPr>
          <p:cNvPr id="28" name="Text 26"/>
          <p:cNvSpPr/>
          <p:nvPr/>
        </p:nvSpPr>
        <p:spPr>
          <a:xfrm>
            <a:off x="7955280" y="3593592"/>
            <a:ext cx="3566160" cy="457200"/>
          </a:xfrm>
          <a:prstGeom prst="rect">
            <a:avLst/>
          </a:prstGeom>
          <a:noFill/>
          <a:ln/>
        </p:spPr>
        <p:txBody>
          <a:bodyPr wrap="square" rtlCol="0" anchor="ctr"/>
          <a:lstStyle/>
          <a:p>
            <a:pPr indent="0" marL="0">
              <a:buNone/>
            </a:pPr>
            <a:r>
              <a:rPr lang="en-US" sz="1100" dirty="0">
                <a:solidFill>
                  <a:srgbClr val="5B6472"/>
                </a:solidFill>
                <a:latin typeface="Calibri" pitchFamily="34" charset="0"/>
                <a:ea typeface="Calibri" pitchFamily="34" charset="-122"/>
                <a:cs typeface="Calibri" pitchFamily="34" charset="-120"/>
              </a:rPr>
              <a:t>moderate — pricier goods cost more to ship</a:t>
            </a:r>
            <a:endParaRPr lang="en-US" sz="1100" dirty="0"/>
          </a:p>
        </p:txBody>
      </p:sp>
      <p:sp>
        <p:nvSpPr>
          <p:cNvPr id="29" name="Shape 27"/>
          <p:cNvSpPr/>
          <p:nvPr/>
        </p:nvSpPr>
        <p:spPr>
          <a:xfrm>
            <a:off x="6492240" y="4251960"/>
            <a:ext cx="5120640" cy="960120"/>
          </a:xfrm>
          <a:prstGeom prst="roundRect">
            <a:avLst>
              <a:gd name="adj" fmla="val 7619"/>
            </a:avLst>
          </a:prstGeom>
          <a:solidFill>
            <a:srgbClr val="F4F7FA"/>
          </a:solidFill>
          <a:ln/>
        </p:spPr>
      </p:sp>
      <p:sp>
        <p:nvSpPr>
          <p:cNvPr id="30" name="Text 28"/>
          <p:cNvSpPr/>
          <p:nvPr/>
        </p:nvSpPr>
        <p:spPr>
          <a:xfrm>
            <a:off x="6675120" y="4343400"/>
            <a:ext cx="1188720" cy="777240"/>
          </a:xfrm>
          <a:prstGeom prst="rect">
            <a:avLst/>
          </a:prstGeom>
          <a:noFill/>
          <a:ln/>
        </p:spPr>
        <p:txBody>
          <a:bodyPr wrap="square" rtlCol="0" anchor="ctr"/>
          <a:lstStyle/>
          <a:p>
            <a:pPr algn="ctr" indent="0" marL="0">
              <a:buNone/>
            </a:pPr>
            <a:r>
              <a:rPr lang="en-US" sz="2200" b="1" dirty="0">
                <a:solidFill>
                  <a:srgbClr val="1C7293"/>
                </a:solidFill>
                <a:latin typeface="Cambria" pitchFamily="34" charset="0"/>
                <a:ea typeface="Cambria" pitchFamily="34" charset="-122"/>
                <a:cs typeface="Cambria" pitchFamily="34" charset="-120"/>
              </a:rPr>
              <a:t>0.27</a:t>
            </a:r>
            <a:endParaRPr lang="en-US" sz="2200" dirty="0"/>
          </a:p>
        </p:txBody>
      </p:sp>
      <p:sp>
        <p:nvSpPr>
          <p:cNvPr id="31" name="Text 29"/>
          <p:cNvSpPr/>
          <p:nvPr/>
        </p:nvSpPr>
        <p:spPr>
          <a:xfrm>
            <a:off x="7955280" y="4343400"/>
            <a:ext cx="3566160" cy="365760"/>
          </a:xfrm>
          <a:prstGeom prst="rect">
            <a:avLst/>
          </a:prstGeom>
          <a:noFill/>
          <a:ln/>
        </p:spPr>
        <p:txBody>
          <a:bodyPr wrap="square" rtlCol="0" anchor="ctr"/>
          <a:lstStyle/>
          <a:p>
            <a:pPr indent="0" marL="0">
              <a:buNone/>
            </a:pPr>
            <a:r>
              <a:rPr lang="en-US" sz="1250" b="1" dirty="0">
                <a:solidFill>
                  <a:srgbClr val="1B1F2A"/>
                </a:solidFill>
                <a:latin typeface="Calibri" pitchFamily="34" charset="0"/>
                <a:ea typeface="Calibri" pitchFamily="34" charset="-122"/>
                <a:cs typeface="Calibri" pitchFamily="34" charset="-120"/>
              </a:rPr>
              <a:t>Product value ↔ Item qty</a:t>
            </a:r>
            <a:endParaRPr lang="en-US" sz="1250" dirty="0"/>
          </a:p>
        </p:txBody>
      </p:sp>
      <p:sp>
        <p:nvSpPr>
          <p:cNvPr id="32" name="Text 30"/>
          <p:cNvSpPr/>
          <p:nvPr/>
        </p:nvSpPr>
        <p:spPr>
          <a:xfrm>
            <a:off x="7955280" y="4690872"/>
            <a:ext cx="3566160" cy="457200"/>
          </a:xfrm>
          <a:prstGeom prst="rect">
            <a:avLst/>
          </a:prstGeom>
          <a:noFill/>
          <a:ln/>
        </p:spPr>
        <p:txBody>
          <a:bodyPr wrap="square" rtlCol="0" anchor="ctr"/>
          <a:lstStyle/>
          <a:p>
            <a:pPr indent="0" marL="0">
              <a:buNone/>
            </a:pPr>
            <a:r>
              <a:rPr lang="en-US" sz="1100" dirty="0">
                <a:solidFill>
                  <a:srgbClr val="5B6472"/>
                </a:solidFill>
                <a:latin typeface="Calibri" pitchFamily="34" charset="0"/>
                <a:ea typeface="Calibri" pitchFamily="34" charset="-122"/>
                <a:cs typeface="Calibri" pitchFamily="34" charset="-120"/>
              </a:rPr>
              <a:t>weak — quantity isn't the revenue driver</a:t>
            </a:r>
            <a:endParaRPr lang="en-US" sz="1100" dirty="0"/>
          </a:p>
        </p:txBody>
      </p:sp>
      <p:sp>
        <p:nvSpPr>
          <p:cNvPr id="33" name="Shape 31"/>
          <p:cNvSpPr/>
          <p:nvPr/>
        </p:nvSpPr>
        <p:spPr>
          <a:xfrm>
            <a:off x="548640" y="5394960"/>
            <a:ext cx="11064240" cy="777240"/>
          </a:xfrm>
          <a:prstGeom prst="roundRect">
            <a:avLst>
              <a:gd name="adj" fmla="val 9412"/>
            </a:avLst>
          </a:prstGeom>
          <a:solidFill>
            <a:srgbClr val="21295C"/>
          </a:solidFill>
          <a:ln/>
        </p:spPr>
      </p:sp>
      <p:sp>
        <p:nvSpPr>
          <p:cNvPr id="34" name="Text 32"/>
          <p:cNvSpPr/>
          <p:nvPr/>
        </p:nvSpPr>
        <p:spPr>
          <a:xfrm>
            <a:off x="822960" y="5394960"/>
            <a:ext cx="10515600" cy="777240"/>
          </a:xfrm>
          <a:prstGeom prst="rect">
            <a:avLst/>
          </a:prstGeom>
          <a:noFill/>
          <a:ln/>
        </p:spPr>
        <p:txBody>
          <a:bodyPr wrap="square" rtlCol="0" anchor="ctr"/>
          <a:lstStyle/>
          <a:p>
            <a:pPr indent="0" marL="0">
              <a:buNone/>
            </a:pPr>
            <a:r>
              <a:rPr lang="en-US" sz="1250" i="1" dirty="0">
                <a:solidFill>
                  <a:srgbClr val="D7DEEA"/>
                </a:solidFill>
                <a:latin typeface="Calibri" pitchFamily="34" charset="0"/>
                <a:ea typeface="Calibri" pitchFamily="34" charset="-122"/>
                <a:cs typeface="Calibri" pitchFamily="34" charset="-120"/>
              </a:rPr>
              <a:t>Median delivery time: 10.2 days (mean: 12.33). Median approval time: just 21 minutes (mean: 10.4 hours) — a few slow outliers distort the average badly.</a:t>
            </a:r>
            <a:endParaRPr lang="en-US" sz="1250" dirty="0"/>
          </a:p>
        </p:txBody>
      </p:sp>
      <p:sp>
        <p:nvSpPr>
          <p:cNvPr id="35" name="Text 33"/>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A7AFBD"/>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5FB1BF"/>
                </a:solidFill>
                <a:latin typeface="Calibri" pitchFamily="34" charset="0"/>
                <a:ea typeface="Calibri" pitchFamily="34" charset="-122"/>
                <a:cs typeface="Calibri" pitchFamily="34" charset="-120"/>
              </a:rPr>
              <a:t>THE HEADLINE QUESTION</a:t>
            </a:r>
            <a:endParaRPr lang="en-US" sz="1250" dirty="0"/>
          </a:p>
        </p:txBody>
      </p:sp>
      <p:sp>
        <p:nvSpPr>
          <p:cNvPr id="3" name="Text 1"/>
          <p:cNvSpPr/>
          <p:nvPr/>
        </p:nvSpPr>
        <p:spPr>
          <a:xfrm>
            <a:off x="548640" y="658368"/>
            <a:ext cx="10789920" cy="8229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Does slow delivery hurt reviews?</a:t>
            </a:r>
            <a:endParaRPr lang="en-US" sz="3000" dirty="0"/>
          </a:p>
        </p:txBody>
      </p:sp>
      <p:sp>
        <p:nvSpPr>
          <p:cNvPr id="4" name="Text 2"/>
          <p:cNvSpPr/>
          <p:nvPr/>
        </p:nvSpPr>
        <p:spPr>
          <a:xfrm>
            <a:off x="548640" y="1554480"/>
            <a:ext cx="10972800" cy="457200"/>
          </a:xfrm>
          <a:prstGeom prst="rect">
            <a:avLst/>
          </a:prstGeom>
          <a:noFill/>
          <a:ln/>
        </p:spPr>
        <p:txBody>
          <a:bodyPr wrap="square" rtlCol="0" anchor="ctr"/>
          <a:lstStyle/>
          <a:p>
            <a:pPr indent="0" marL="0">
              <a:buNone/>
            </a:pPr>
            <a:r>
              <a:rPr lang="en-US" sz="1500" i="1" dirty="0">
                <a:solidFill>
                  <a:srgbClr val="C9D3E0"/>
                </a:solidFill>
                <a:latin typeface="Calibri" pitchFamily="34" charset="0"/>
                <a:ea typeface="Calibri" pitchFamily="34" charset="-122"/>
                <a:cs typeface="Calibri" pitchFamily="34" charset="-120"/>
              </a:rPr>
              <a:t>The expected story: slower delivery → angrier customers → worse reviews.</a:t>
            </a:r>
            <a:endParaRPr lang="en-US" sz="1500" dirty="0"/>
          </a:p>
        </p:txBody>
      </p:sp>
      <p:sp>
        <p:nvSpPr>
          <p:cNvPr id="5" name="Shape 3"/>
          <p:cNvSpPr/>
          <p:nvPr/>
        </p:nvSpPr>
        <p:spPr>
          <a:xfrm>
            <a:off x="548640" y="2194560"/>
            <a:ext cx="3383280" cy="1737360"/>
          </a:xfrm>
          <a:prstGeom prst="roundRect">
            <a:avLst>
              <a:gd name="adj" fmla="val 5263"/>
            </a:avLst>
          </a:prstGeom>
          <a:solidFill>
            <a:srgbClr val="2E3A73"/>
          </a:solidFill>
          <a:ln/>
        </p:spPr>
      </p:sp>
      <p:sp>
        <p:nvSpPr>
          <p:cNvPr id="6" name="Text 4"/>
          <p:cNvSpPr/>
          <p:nvPr/>
        </p:nvSpPr>
        <p:spPr>
          <a:xfrm>
            <a:off x="548640" y="2377440"/>
            <a:ext cx="3383280" cy="777240"/>
          </a:xfrm>
          <a:prstGeom prst="rect">
            <a:avLst/>
          </a:prstGeom>
          <a:noFill/>
          <a:ln/>
        </p:spPr>
        <p:txBody>
          <a:bodyPr wrap="square" rtlCol="0" anchor="ctr"/>
          <a:lstStyle/>
          <a:p>
            <a:pPr algn="ctr" indent="0" marL="0">
              <a:buNone/>
            </a:pPr>
            <a:r>
              <a:rPr lang="en-US" sz="3200" b="1" dirty="0">
                <a:solidFill>
                  <a:srgbClr val="5FB1BF"/>
                </a:solidFill>
                <a:latin typeface="Cambria" pitchFamily="34" charset="0"/>
                <a:ea typeface="Cambria" pitchFamily="34" charset="-122"/>
                <a:cs typeface="Cambria" pitchFamily="34" charset="-120"/>
              </a:rPr>
              <a:t>r = 0.022</a:t>
            </a:r>
            <a:endParaRPr lang="en-US" sz="3200" dirty="0"/>
          </a:p>
        </p:txBody>
      </p:sp>
      <p:sp>
        <p:nvSpPr>
          <p:cNvPr id="7" name="Text 5"/>
          <p:cNvSpPr/>
          <p:nvPr/>
        </p:nvSpPr>
        <p:spPr>
          <a:xfrm>
            <a:off x="548640" y="3200400"/>
            <a:ext cx="3383280" cy="640080"/>
          </a:xfrm>
          <a:prstGeom prst="rect">
            <a:avLst/>
          </a:prstGeom>
          <a:noFill/>
          <a:ln/>
        </p:spPr>
        <p:txBody>
          <a:bodyPr wrap="square" rtlCol="0" anchor="ctr"/>
          <a:lstStyle/>
          <a:p>
            <a:pPr algn="ctr" indent="0" marL="0">
              <a:buNone/>
            </a:pPr>
            <a:r>
              <a:rPr lang="en-US" sz="1200" dirty="0">
                <a:solidFill>
                  <a:srgbClr val="C9D3E0"/>
                </a:solidFill>
                <a:latin typeface="Calibri" pitchFamily="34" charset="0"/>
                <a:ea typeface="Calibri" pitchFamily="34" charset="-122"/>
                <a:cs typeface="Calibri" pitchFamily="34" charset="-120"/>
              </a:rPr>
              <a:t>Pearson correlation</a:t>
            </a:r>
            <a:endParaRPr lang="en-US" sz="1200" dirty="0"/>
          </a:p>
          <a:p>
            <a:pPr algn="ctr" indent="0" marL="0">
              <a:buNone/>
            </a:pPr>
            <a:r>
              <a:rPr lang="en-US" sz="1200" dirty="0">
                <a:solidFill>
                  <a:srgbClr val="C9D3E0"/>
                </a:solidFill>
                <a:latin typeface="Calibri" pitchFamily="34" charset="0"/>
                <a:ea typeface="Calibri" pitchFamily="34" charset="-122"/>
                <a:cs typeface="Calibri" pitchFamily="34" charset="-120"/>
              </a:rPr>
              <a:t>(essentially zero)</a:t>
            </a:r>
            <a:endParaRPr lang="en-US" sz="1200" dirty="0"/>
          </a:p>
        </p:txBody>
      </p:sp>
      <p:sp>
        <p:nvSpPr>
          <p:cNvPr id="8" name="Text 6"/>
          <p:cNvSpPr/>
          <p:nvPr/>
        </p:nvSpPr>
        <p:spPr>
          <a:xfrm>
            <a:off x="4206240" y="2194560"/>
            <a:ext cx="2834640" cy="5486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Non-linear cliff?</a:t>
            </a:r>
            <a:endParaRPr lang="en-US" sz="1300" dirty="0"/>
          </a:p>
        </p:txBody>
      </p:sp>
      <p:sp>
        <p:nvSpPr>
          <p:cNvPr id="9" name="Text 7"/>
          <p:cNvSpPr/>
          <p:nvPr/>
        </p:nvSpPr>
        <p:spPr>
          <a:xfrm>
            <a:off x="4206240" y="2560320"/>
            <a:ext cx="7452360" cy="566928"/>
          </a:xfrm>
          <a:prstGeom prst="rect">
            <a:avLst/>
          </a:prstGeom>
          <a:noFill/>
          <a:ln/>
        </p:spPr>
        <p:txBody>
          <a:bodyPr wrap="square" rtlCol="0" anchor="ctr"/>
          <a:lstStyle/>
          <a:p>
            <a:pPr indent="0" marL="0">
              <a:lnSpc>
                <a:spcPct val="120000"/>
              </a:lnSpc>
              <a:buNone/>
            </a:pPr>
            <a:r>
              <a:rPr lang="en-US" sz="1150" dirty="0">
                <a:solidFill>
                  <a:srgbClr val="C9D3E0"/>
                </a:solidFill>
                <a:latin typeface="Calibri" pitchFamily="34" charset="0"/>
                <a:ea typeface="Calibri" pitchFamily="34" charset="-122"/>
                <a:cs typeface="Calibri" pitchFamily="34" charset="-120"/>
              </a:rPr>
              <a:t>No — bucketed averages stay flat across every delivery-time range (4.29 → 4.06 → 4.03 → 4.14 → 4.33 → 3.98).</a:t>
            </a:r>
            <a:endParaRPr lang="en-US" sz="1150" dirty="0"/>
          </a:p>
        </p:txBody>
      </p:sp>
      <p:sp>
        <p:nvSpPr>
          <p:cNvPr id="10" name="Text 8"/>
          <p:cNvSpPr/>
          <p:nvPr/>
        </p:nvSpPr>
        <p:spPr>
          <a:xfrm>
            <a:off x="4206240" y="2971800"/>
            <a:ext cx="2834640" cy="5486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Effect in the tail?</a:t>
            </a:r>
            <a:endParaRPr lang="en-US" sz="1300" dirty="0"/>
          </a:p>
        </p:txBody>
      </p:sp>
      <p:sp>
        <p:nvSpPr>
          <p:cNvPr id="11" name="Text 9"/>
          <p:cNvSpPr/>
          <p:nvPr/>
        </p:nvSpPr>
        <p:spPr>
          <a:xfrm>
            <a:off x="4206240" y="3337560"/>
            <a:ext cx="7452360" cy="566928"/>
          </a:xfrm>
          <a:prstGeom prst="rect">
            <a:avLst/>
          </a:prstGeom>
          <a:noFill/>
          <a:ln/>
        </p:spPr>
        <p:txBody>
          <a:bodyPr wrap="square" rtlCol="0" anchor="ctr"/>
          <a:lstStyle/>
          <a:p>
            <a:pPr indent="0" marL="0">
              <a:lnSpc>
                <a:spcPct val="120000"/>
              </a:lnSpc>
              <a:buNone/>
            </a:pPr>
            <a:r>
              <a:rPr lang="en-US" sz="1150" dirty="0">
                <a:solidFill>
                  <a:srgbClr val="C9D3E0"/>
                </a:solidFill>
                <a:latin typeface="Calibri" pitchFamily="34" charset="0"/>
                <a:ea typeface="Calibri" pitchFamily="34" charset="-122"/>
                <a:cs typeface="Calibri" pitchFamily="34" charset="-120"/>
              </a:rPr>
              <a:t>No — the slowest 10% of orders score marginally BETTER (4.14) than everyone else (4.09).</a:t>
            </a:r>
            <a:endParaRPr lang="en-US" sz="1150" dirty="0"/>
          </a:p>
        </p:txBody>
      </p:sp>
      <p:sp>
        <p:nvSpPr>
          <p:cNvPr id="12" name="Text 10"/>
          <p:cNvSpPr/>
          <p:nvPr/>
        </p:nvSpPr>
        <p:spPr>
          <a:xfrm>
            <a:off x="4206240" y="3749040"/>
            <a:ext cx="2834640" cy="5486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Enough data to tell?</a:t>
            </a:r>
            <a:endParaRPr lang="en-US" sz="1300" dirty="0"/>
          </a:p>
        </p:txBody>
      </p:sp>
      <p:sp>
        <p:nvSpPr>
          <p:cNvPr id="13" name="Text 11"/>
          <p:cNvSpPr/>
          <p:nvPr/>
        </p:nvSpPr>
        <p:spPr>
          <a:xfrm>
            <a:off x="4206240" y="4114800"/>
            <a:ext cx="7452360" cy="566928"/>
          </a:xfrm>
          <a:prstGeom prst="rect">
            <a:avLst/>
          </a:prstGeom>
          <a:noFill/>
          <a:ln/>
        </p:spPr>
        <p:txBody>
          <a:bodyPr wrap="square" rtlCol="0" anchor="ctr"/>
          <a:lstStyle/>
          <a:p>
            <a:pPr indent="0" marL="0">
              <a:lnSpc>
                <a:spcPct val="120000"/>
              </a:lnSpc>
              <a:buNone/>
            </a:pPr>
            <a:r>
              <a:rPr lang="en-US" sz="1150" dirty="0">
                <a:solidFill>
                  <a:srgbClr val="C9D3E0"/>
                </a:solidFill>
                <a:latin typeface="Calibri" pitchFamily="34" charset="0"/>
                <a:ea typeface="Calibri" pitchFamily="34" charset="-122"/>
                <a:cs typeface="Calibri" pitchFamily="34" charset="-120"/>
              </a:rPr>
              <a:t>Borderline — at n=978, r must exceed ~0.063 to mean anything. Our 0.022 is inside the noise.</a:t>
            </a:r>
            <a:endParaRPr lang="en-US" sz="1150" dirty="0"/>
          </a:p>
        </p:txBody>
      </p:sp>
      <p:sp>
        <p:nvSpPr>
          <p:cNvPr id="14" name="Shape 12"/>
          <p:cNvSpPr/>
          <p:nvPr/>
        </p:nvSpPr>
        <p:spPr>
          <a:xfrm>
            <a:off x="548640" y="5074920"/>
            <a:ext cx="11064240" cy="1280160"/>
          </a:xfrm>
          <a:prstGeom prst="roundRect">
            <a:avLst>
              <a:gd name="adj" fmla="val 7143"/>
            </a:avLst>
          </a:prstGeom>
          <a:solidFill>
            <a:srgbClr val="1C7293"/>
          </a:solidFill>
          <a:ln/>
        </p:spPr>
      </p:sp>
      <p:sp>
        <p:nvSpPr>
          <p:cNvPr id="15" name="Shape 13"/>
          <p:cNvSpPr/>
          <p:nvPr/>
        </p:nvSpPr>
        <p:spPr>
          <a:xfrm>
            <a:off x="822960" y="5285232"/>
            <a:ext cx="502920" cy="502920"/>
          </a:xfrm>
          <a:prstGeom prst="ellipse">
            <a:avLst/>
          </a:prstGeom>
          <a:solidFill>
            <a:srgbClr val="FFFFFF">
              <a:alpha val="30000"/>
            </a:srgbClr>
          </a:solidFill>
          <a:ln/>
        </p:spPr>
      </p:sp>
      <p:pic>
        <p:nvPicPr>
          <p:cNvPr id="16" name="Image 0" descr="preencoded.png">    </p:cNvPr>
          <p:cNvPicPr>
            <a:picLocks noChangeAspect="1"/>
          </p:cNvPicPr>
          <p:nvPr/>
        </p:nvPicPr>
        <p:blipFill>
          <a:blip r:embed="rId1"/>
          <a:stretch>
            <a:fillRect/>
          </a:stretch>
        </p:blipFill>
        <p:spPr>
          <a:xfrm>
            <a:off x="953719" y="5415991"/>
            <a:ext cx="241402" cy="241402"/>
          </a:xfrm>
          <a:prstGeom prst="rect">
            <a:avLst/>
          </a:prstGeom>
        </p:spPr>
      </p:pic>
      <p:sp>
        <p:nvSpPr>
          <p:cNvPr id="17" name="Text 14"/>
          <p:cNvSpPr/>
          <p:nvPr/>
        </p:nvSpPr>
        <p:spPr>
          <a:xfrm>
            <a:off x="1508760" y="5138928"/>
            <a:ext cx="9784080" cy="1143000"/>
          </a:xfrm>
          <a:prstGeom prst="rect">
            <a:avLst/>
          </a:prstGeom>
          <a:noFill/>
          <a:ln/>
        </p:spPr>
        <p:txBody>
          <a:bodyPr wrap="square" rtlCol="0" anchor="ctr"/>
          <a:lstStyle/>
          <a:p>
            <a:pPr indent="0" marL="0">
              <a:lnSpc>
                <a:spcPct val="130000"/>
              </a:lnSpc>
              <a:buNone/>
            </a:pPr>
            <a:r>
              <a:rPr lang="en-US" sz="1300" dirty="0">
                <a:solidFill>
                  <a:srgbClr val="FFFFFF"/>
                </a:solidFill>
                <a:latin typeface="Calibri" pitchFamily="34" charset="0"/>
                <a:ea typeface="Calibri" pitchFamily="34" charset="-122"/>
                <a:cs typeface="Calibri" pitchFamily="34" charset="-120"/>
              </a:rPr>
              <a:t>The pipeline is validated — it computes the metric correctly. The 1,000-row sample is simply too small and too skewed (58% five-star) to reproduce a relationship the full 100k-row dataset does show. Reporting that honestly beats manufacturing a story.</a:t>
            </a:r>
            <a:endParaRPr lang="en-US" sz="1300" dirty="0"/>
          </a:p>
        </p:txBody>
      </p:sp>
      <p:sp>
        <p:nvSpPr>
          <p:cNvPr id="18" name="Text 15"/>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DATA QUALITY FINDINGS</a:t>
            </a:r>
            <a:endParaRPr lang="en-US" sz="1250" dirty="0"/>
          </a:p>
        </p:txBody>
      </p:sp>
      <p:sp>
        <p:nvSpPr>
          <p:cNvPr id="3" name="Text 1"/>
          <p:cNvSpPr/>
          <p:nvPr/>
        </p:nvSpPr>
        <p:spPr>
          <a:xfrm>
            <a:off x="548640" y="658368"/>
            <a:ext cx="10789920" cy="822960"/>
          </a:xfrm>
          <a:prstGeom prst="rect">
            <a:avLst/>
          </a:prstGeom>
          <a:noFill/>
          <a:ln/>
        </p:spPr>
        <p:txBody>
          <a:bodyPr wrap="square" rtlCol="0" anchor="ctr"/>
          <a:lstStyle/>
          <a:p>
            <a:pPr indent="0" marL="0">
              <a:buNone/>
            </a:pPr>
            <a:r>
              <a:rPr lang="en-US" sz="3000" b="1" dirty="0">
                <a:solidFill>
                  <a:srgbClr val="1B1F2A"/>
                </a:solidFill>
                <a:latin typeface="Cambria" pitchFamily="34" charset="0"/>
                <a:ea typeface="Cambria" pitchFamily="34" charset="-122"/>
                <a:cs typeface="Cambria" pitchFamily="34" charset="-120"/>
              </a:rPr>
              <a:t>Three real defects, not invented for the demo</a:t>
            </a:r>
            <a:endParaRPr lang="en-US" sz="3000" dirty="0"/>
          </a:p>
        </p:txBody>
      </p:sp>
      <p:sp>
        <p:nvSpPr>
          <p:cNvPr id="4" name="Shape 2"/>
          <p:cNvSpPr/>
          <p:nvPr/>
        </p:nvSpPr>
        <p:spPr>
          <a:xfrm>
            <a:off x="548640" y="1691640"/>
            <a:ext cx="3566160" cy="3383280"/>
          </a:xfrm>
          <a:prstGeom prst="roundRect">
            <a:avLst>
              <a:gd name="adj" fmla="val 2703"/>
            </a:avLst>
          </a:prstGeom>
          <a:solidFill>
            <a:srgbClr val="F4F7FA"/>
          </a:solidFill>
          <a:ln/>
        </p:spPr>
      </p:sp>
      <p:sp>
        <p:nvSpPr>
          <p:cNvPr id="5" name="Shape 3"/>
          <p:cNvSpPr/>
          <p:nvPr/>
        </p:nvSpPr>
        <p:spPr>
          <a:xfrm>
            <a:off x="1965960" y="2011680"/>
            <a:ext cx="731520" cy="731520"/>
          </a:xfrm>
          <a:prstGeom prst="ellipse">
            <a:avLst/>
          </a:prstGeom>
          <a:solidFill>
            <a:srgbClr val="065A82"/>
          </a:solidFill>
          <a:ln/>
        </p:spPr>
      </p:sp>
      <p:pic>
        <p:nvPicPr>
          <p:cNvPr id="6" name="Image 0" descr="preencoded.png">    </p:cNvPr>
          <p:cNvPicPr>
            <a:picLocks noChangeAspect="1"/>
          </p:cNvPicPr>
          <p:nvPr/>
        </p:nvPicPr>
        <p:blipFill>
          <a:blip r:embed="rId1"/>
          <a:stretch>
            <a:fillRect/>
          </a:stretch>
        </p:blipFill>
        <p:spPr>
          <a:xfrm>
            <a:off x="2156155" y="2201875"/>
            <a:ext cx="351130" cy="351130"/>
          </a:xfrm>
          <a:prstGeom prst="rect">
            <a:avLst/>
          </a:prstGeom>
        </p:spPr>
      </p:pic>
      <p:sp>
        <p:nvSpPr>
          <p:cNvPr id="7" name="Text 4"/>
          <p:cNvSpPr/>
          <p:nvPr/>
        </p:nvSpPr>
        <p:spPr>
          <a:xfrm>
            <a:off x="822960" y="2926080"/>
            <a:ext cx="3017520" cy="640080"/>
          </a:xfrm>
          <a:prstGeom prst="rect">
            <a:avLst/>
          </a:prstGeom>
          <a:noFill/>
          <a:ln/>
        </p:spPr>
        <p:txBody>
          <a:bodyPr wrap="square" rtlCol="0" anchor="ctr"/>
          <a:lstStyle/>
          <a:p>
            <a:pPr algn="ctr" indent="0" marL="0">
              <a:buNone/>
            </a:pPr>
            <a:r>
              <a:rPr lang="en-US" sz="1500" b="1" dirty="0">
                <a:solidFill>
                  <a:srgbClr val="1B1F2A"/>
                </a:solidFill>
                <a:latin typeface="Calibri" pitchFamily="34" charset="0"/>
                <a:ea typeface="Calibri" pitchFamily="34" charset="-122"/>
                <a:cs typeface="Calibri" pitchFamily="34" charset="-120"/>
              </a:rPr>
              <a:t>Inconsistent casing</a:t>
            </a:r>
            <a:endParaRPr lang="en-US" sz="1500" dirty="0"/>
          </a:p>
        </p:txBody>
      </p:sp>
      <p:sp>
        <p:nvSpPr>
          <p:cNvPr id="8" name="Text 5"/>
          <p:cNvSpPr/>
          <p:nvPr/>
        </p:nvSpPr>
        <p:spPr>
          <a:xfrm>
            <a:off x="822960" y="3566160"/>
            <a:ext cx="3017520" cy="1371600"/>
          </a:xfrm>
          <a:prstGeom prst="rect">
            <a:avLst/>
          </a:prstGeom>
          <a:noFill/>
          <a:ln/>
        </p:spPr>
        <p:txBody>
          <a:bodyPr wrap="square" rtlCol="0" anchor="ctr"/>
          <a:lstStyle/>
          <a:p>
            <a:pPr algn="ctr" indent="0" marL="0">
              <a:lnSpc>
                <a:spcPct val="130000"/>
              </a:lnSpc>
              <a:buNone/>
            </a:pPr>
            <a:r>
              <a:rPr lang="en-US" sz="1200" dirty="0">
                <a:solidFill>
                  <a:srgbClr val="5B6472"/>
                </a:solidFill>
                <a:latin typeface="Calibri" pitchFamily="34" charset="0"/>
                <a:ea typeface="Calibri" pitchFamily="34" charset="-122"/>
                <a:cs typeface="Calibri" pitchFamily="34" charset="-120"/>
              </a:rPr>
              <a:t>"SAO PAULO" vs "Sao Paulo" split one city into two groups — a 4% undercount on the top city.</a:t>
            </a:r>
            <a:endParaRPr lang="en-US" sz="1200" dirty="0"/>
          </a:p>
        </p:txBody>
      </p:sp>
      <p:sp>
        <p:nvSpPr>
          <p:cNvPr id="9" name="Shape 6"/>
          <p:cNvSpPr/>
          <p:nvPr/>
        </p:nvSpPr>
        <p:spPr>
          <a:xfrm>
            <a:off x="4434840" y="1691640"/>
            <a:ext cx="3566160" cy="3383280"/>
          </a:xfrm>
          <a:prstGeom prst="roundRect">
            <a:avLst>
              <a:gd name="adj" fmla="val 2703"/>
            </a:avLst>
          </a:prstGeom>
          <a:solidFill>
            <a:srgbClr val="F4F7FA"/>
          </a:solidFill>
          <a:ln/>
        </p:spPr>
      </p:sp>
      <p:sp>
        <p:nvSpPr>
          <p:cNvPr id="10" name="Shape 7"/>
          <p:cNvSpPr/>
          <p:nvPr/>
        </p:nvSpPr>
        <p:spPr>
          <a:xfrm>
            <a:off x="5852160" y="2011680"/>
            <a:ext cx="731520" cy="731520"/>
          </a:xfrm>
          <a:prstGeom prst="ellipse">
            <a:avLst/>
          </a:prstGeom>
          <a:solidFill>
            <a:srgbClr val="065A82"/>
          </a:solidFill>
          <a:ln/>
        </p:spPr>
      </p:sp>
      <p:pic>
        <p:nvPicPr>
          <p:cNvPr id="11" name="Image 1" descr="preencoded.png">    </p:cNvPr>
          <p:cNvPicPr>
            <a:picLocks noChangeAspect="1"/>
          </p:cNvPicPr>
          <p:nvPr/>
        </p:nvPicPr>
        <p:blipFill>
          <a:blip r:embed="rId2"/>
          <a:stretch>
            <a:fillRect/>
          </a:stretch>
        </p:blipFill>
        <p:spPr>
          <a:xfrm>
            <a:off x="6042355" y="2201875"/>
            <a:ext cx="351130" cy="351130"/>
          </a:xfrm>
          <a:prstGeom prst="rect">
            <a:avLst/>
          </a:prstGeom>
        </p:spPr>
      </p:pic>
      <p:sp>
        <p:nvSpPr>
          <p:cNvPr id="12" name="Text 8"/>
          <p:cNvSpPr/>
          <p:nvPr/>
        </p:nvSpPr>
        <p:spPr>
          <a:xfrm>
            <a:off x="4709160" y="2926080"/>
            <a:ext cx="3017520" cy="640080"/>
          </a:xfrm>
          <a:prstGeom prst="rect">
            <a:avLst/>
          </a:prstGeom>
          <a:noFill/>
          <a:ln/>
        </p:spPr>
        <p:txBody>
          <a:bodyPr wrap="square" rtlCol="0" anchor="ctr"/>
          <a:lstStyle/>
          <a:p>
            <a:pPr algn="ctr" indent="0" marL="0">
              <a:buNone/>
            </a:pPr>
            <a:r>
              <a:rPr lang="en-US" sz="1500" b="1" dirty="0">
                <a:solidFill>
                  <a:srgbClr val="1B1F2A"/>
                </a:solidFill>
                <a:latin typeface="Calibri" pitchFamily="34" charset="0"/>
                <a:ea typeface="Calibri" pitchFamily="34" charset="-122"/>
                <a:cs typeface="Calibri" pitchFamily="34" charset="-120"/>
              </a:rPr>
              <a:t>Contradictory records</a:t>
            </a:r>
            <a:endParaRPr lang="en-US" sz="1500" dirty="0"/>
          </a:p>
        </p:txBody>
      </p:sp>
      <p:sp>
        <p:nvSpPr>
          <p:cNvPr id="13" name="Text 9"/>
          <p:cNvSpPr/>
          <p:nvPr/>
        </p:nvSpPr>
        <p:spPr>
          <a:xfrm>
            <a:off x="4709160" y="3566160"/>
            <a:ext cx="3017520" cy="1371600"/>
          </a:xfrm>
          <a:prstGeom prst="rect">
            <a:avLst/>
          </a:prstGeom>
          <a:noFill/>
          <a:ln/>
        </p:spPr>
        <p:txBody>
          <a:bodyPr wrap="square" rtlCol="0" anchor="ctr"/>
          <a:lstStyle/>
          <a:p>
            <a:pPr algn="ctr" indent="0" marL="0">
              <a:lnSpc>
                <a:spcPct val="130000"/>
              </a:lnSpc>
              <a:buNone/>
            </a:pPr>
            <a:r>
              <a:rPr lang="en-US" sz="1200" dirty="0">
                <a:solidFill>
                  <a:srgbClr val="5B6472"/>
                </a:solidFill>
                <a:latin typeface="Calibri" pitchFamily="34" charset="0"/>
                <a:ea typeface="Calibri" pitchFamily="34" charset="-122"/>
                <a:cs typeface="Calibri" pitchFamily="34" charset="-120"/>
              </a:rPr>
              <a:t>22 orders marked delivered with no delivery date. 3 marked canceled with one anyway. Blanket dropna() would hide, not fix, this.</a:t>
            </a:r>
            <a:endParaRPr lang="en-US" sz="1200" dirty="0"/>
          </a:p>
        </p:txBody>
      </p:sp>
      <p:sp>
        <p:nvSpPr>
          <p:cNvPr id="14" name="Shape 10"/>
          <p:cNvSpPr/>
          <p:nvPr/>
        </p:nvSpPr>
        <p:spPr>
          <a:xfrm>
            <a:off x="8321040" y="1691640"/>
            <a:ext cx="3566160" cy="3383280"/>
          </a:xfrm>
          <a:prstGeom prst="roundRect">
            <a:avLst>
              <a:gd name="adj" fmla="val 2703"/>
            </a:avLst>
          </a:prstGeom>
          <a:solidFill>
            <a:srgbClr val="F4F7FA"/>
          </a:solidFill>
          <a:ln/>
        </p:spPr>
      </p:sp>
      <p:sp>
        <p:nvSpPr>
          <p:cNvPr id="15" name="Shape 11"/>
          <p:cNvSpPr/>
          <p:nvPr/>
        </p:nvSpPr>
        <p:spPr>
          <a:xfrm>
            <a:off x="9738360" y="2011680"/>
            <a:ext cx="731520" cy="731520"/>
          </a:xfrm>
          <a:prstGeom prst="ellipse">
            <a:avLst/>
          </a:prstGeom>
          <a:solidFill>
            <a:srgbClr val="065A82"/>
          </a:solidFill>
          <a:ln/>
        </p:spPr>
      </p:sp>
      <p:pic>
        <p:nvPicPr>
          <p:cNvPr id="16" name="Image 2" descr="preencoded.png">    </p:cNvPr>
          <p:cNvPicPr>
            <a:picLocks noChangeAspect="1"/>
          </p:cNvPicPr>
          <p:nvPr/>
        </p:nvPicPr>
        <p:blipFill>
          <a:blip r:embed="rId3"/>
          <a:stretch>
            <a:fillRect/>
          </a:stretch>
        </p:blipFill>
        <p:spPr>
          <a:xfrm>
            <a:off x="9928555" y="2201875"/>
            <a:ext cx="351130" cy="351130"/>
          </a:xfrm>
          <a:prstGeom prst="rect">
            <a:avLst/>
          </a:prstGeom>
        </p:spPr>
      </p:pic>
      <p:sp>
        <p:nvSpPr>
          <p:cNvPr id="17" name="Text 12"/>
          <p:cNvSpPr/>
          <p:nvPr/>
        </p:nvSpPr>
        <p:spPr>
          <a:xfrm>
            <a:off x="8595360" y="2926080"/>
            <a:ext cx="3017520" cy="640080"/>
          </a:xfrm>
          <a:prstGeom prst="rect">
            <a:avLst/>
          </a:prstGeom>
          <a:noFill/>
          <a:ln/>
        </p:spPr>
        <p:txBody>
          <a:bodyPr wrap="square" rtlCol="0" anchor="ctr"/>
          <a:lstStyle/>
          <a:p>
            <a:pPr algn="ctr" indent="0" marL="0">
              <a:buNone/>
            </a:pPr>
            <a:r>
              <a:rPr lang="en-US" sz="1500" b="1" dirty="0">
                <a:solidFill>
                  <a:srgbClr val="1B1F2A"/>
                </a:solidFill>
                <a:latin typeface="Calibri" pitchFamily="34" charset="0"/>
                <a:ea typeface="Calibri" pitchFamily="34" charset="-122"/>
                <a:cs typeface="Calibri" pitchFamily="34" charset="-120"/>
              </a:rPr>
              <a:t>NaN survives serialization</a:t>
            </a:r>
            <a:endParaRPr lang="en-US" sz="1500" dirty="0"/>
          </a:p>
        </p:txBody>
      </p:sp>
      <p:sp>
        <p:nvSpPr>
          <p:cNvPr id="18" name="Text 13"/>
          <p:cNvSpPr/>
          <p:nvPr/>
        </p:nvSpPr>
        <p:spPr>
          <a:xfrm>
            <a:off x="8595360" y="3566160"/>
            <a:ext cx="3017520" cy="1371600"/>
          </a:xfrm>
          <a:prstGeom prst="rect">
            <a:avLst/>
          </a:prstGeom>
          <a:noFill/>
          <a:ln/>
        </p:spPr>
        <p:txBody>
          <a:bodyPr wrap="square" rtlCol="0" anchor="ctr"/>
          <a:lstStyle/>
          <a:p>
            <a:pPr algn="ctr" indent="0" marL="0">
              <a:lnSpc>
                <a:spcPct val="130000"/>
              </a:lnSpc>
              <a:buNone/>
            </a:pPr>
            <a:r>
              <a:rPr lang="en-US" sz="1200" dirty="0">
                <a:solidFill>
                  <a:srgbClr val="5B6472"/>
                </a:solidFill>
                <a:latin typeface="Calibri" pitchFamily="34" charset="0"/>
                <a:ea typeface="Calibri" pitchFamily="34" charset="-122"/>
                <a:cs typeface="Calibri" pitchFamily="34" charset="-120"/>
              </a:rPr>
              <a:t>pandas' float NaN becomes the string "nan" after a JSON round-trip, crashing a timestamp cast under Spark's ANSI mode.</a:t>
            </a:r>
            <a:endParaRPr lang="en-US" sz="1200" dirty="0"/>
          </a:p>
        </p:txBody>
      </p:sp>
      <p:sp>
        <p:nvSpPr>
          <p:cNvPr id="19" name="Text 14"/>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A7AFBD"/>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50" b="1" spc="200" kern="0" dirty="0">
                <a:solidFill>
                  <a:srgbClr val="5FB1BF"/>
                </a:solidFill>
                <a:latin typeface="Calibri" pitchFamily="34" charset="0"/>
                <a:ea typeface="Calibri" pitchFamily="34" charset="-122"/>
                <a:cs typeface="Calibri" pitchFamily="34" charset="-120"/>
              </a:rPr>
              <a:t>WHAT A REAL COMPANY WOULD DO DIFFERENTLY</a:t>
            </a:r>
            <a:endParaRPr lang="en-US" sz="1250" dirty="0"/>
          </a:p>
        </p:txBody>
      </p:sp>
      <p:sp>
        <p:nvSpPr>
          <p:cNvPr id="3" name="Text 1"/>
          <p:cNvSpPr/>
          <p:nvPr/>
        </p:nvSpPr>
        <p:spPr>
          <a:xfrm>
            <a:off x="548640" y="658368"/>
            <a:ext cx="10789920" cy="8229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This project vs. production</a:t>
            </a:r>
            <a:endParaRPr lang="en-US" sz="3000" dirty="0"/>
          </a:p>
        </p:txBody>
      </p:sp>
      <p:sp>
        <p:nvSpPr>
          <p:cNvPr id="4" name="Text 2"/>
          <p:cNvSpPr/>
          <p:nvPr/>
        </p:nvSpPr>
        <p:spPr>
          <a:xfrm>
            <a:off x="548640" y="1691640"/>
            <a:ext cx="2194560" cy="365760"/>
          </a:xfrm>
          <a:prstGeom prst="rect">
            <a:avLst/>
          </a:prstGeom>
          <a:noFill/>
          <a:ln/>
        </p:spPr>
        <p:txBody>
          <a:bodyPr wrap="square" rtlCol="0" anchor="ctr"/>
          <a:lstStyle/>
          <a:p>
            <a:pPr indent="0" marL="0">
              <a:buNone/>
            </a:pPr>
            <a:r>
              <a:rPr lang="en-US" sz="1100" b="1" spc="150" kern="0" dirty="0">
                <a:solidFill>
                  <a:srgbClr val="5FB1BF"/>
                </a:solidFill>
                <a:latin typeface="Calibri" pitchFamily="34" charset="0"/>
                <a:ea typeface="Calibri" pitchFamily="34" charset="-122"/>
                <a:cs typeface="Calibri" pitchFamily="34" charset="-120"/>
              </a:rPr>
              <a:t>WHAT</a:t>
            </a:r>
            <a:endParaRPr lang="en-US" sz="1100" dirty="0"/>
          </a:p>
        </p:txBody>
      </p:sp>
      <p:sp>
        <p:nvSpPr>
          <p:cNvPr id="5" name="Text 3"/>
          <p:cNvSpPr/>
          <p:nvPr/>
        </p:nvSpPr>
        <p:spPr>
          <a:xfrm>
            <a:off x="2834640" y="1691640"/>
            <a:ext cx="3931920" cy="365760"/>
          </a:xfrm>
          <a:prstGeom prst="rect">
            <a:avLst/>
          </a:prstGeom>
          <a:noFill/>
          <a:ln/>
        </p:spPr>
        <p:txBody>
          <a:bodyPr wrap="square" rtlCol="0" anchor="ctr"/>
          <a:lstStyle/>
          <a:p>
            <a:pPr indent="0" marL="0">
              <a:buNone/>
            </a:pPr>
            <a:r>
              <a:rPr lang="en-US" sz="1100" b="1" spc="150" kern="0" dirty="0">
                <a:solidFill>
                  <a:srgbClr val="5FB1BF"/>
                </a:solidFill>
                <a:latin typeface="Calibri" pitchFamily="34" charset="0"/>
                <a:ea typeface="Calibri" pitchFamily="34" charset="-122"/>
                <a:cs typeface="Calibri" pitchFamily="34" charset="-120"/>
              </a:rPr>
              <a:t>THIS PROJECT</a:t>
            </a:r>
            <a:endParaRPr lang="en-US" sz="1100" dirty="0"/>
          </a:p>
        </p:txBody>
      </p:sp>
      <p:sp>
        <p:nvSpPr>
          <p:cNvPr id="6" name="Text 4"/>
          <p:cNvSpPr/>
          <p:nvPr/>
        </p:nvSpPr>
        <p:spPr>
          <a:xfrm>
            <a:off x="6903720" y="1691640"/>
            <a:ext cx="4754880" cy="365760"/>
          </a:xfrm>
          <a:prstGeom prst="rect">
            <a:avLst/>
          </a:prstGeom>
          <a:noFill/>
          <a:ln/>
        </p:spPr>
        <p:txBody>
          <a:bodyPr wrap="square" rtlCol="0" anchor="ctr"/>
          <a:lstStyle/>
          <a:p>
            <a:pPr indent="0" marL="0">
              <a:buNone/>
            </a:pPr>
            <a:r>
              <a:rPr lang="en-US" sz="1100" b="1" spc="150" kern="0" dirty="0">
                <a:solidFill>
                  <a:srgbClr val="5FB1BF"/>
                </a:solidFill>
                <a:latin typeface="Calibri" pitchFamily="34" charset="0"/>
                <a:ea typeface="Calibri" pitchFamily="34" charset="-122"/>
                <a:cs typeface="Calibri" pitchFamily="34" charset="-120"/>
              </a:rPr>
              <a:t>PRODUCTION</a:t>
            </a:r>
            <a:endParaRPr lang="en-US" sz="1100" dirty="0"/>
          </a:p>
        </p:txBody>
      </p:sp>
      <p:sp>
        <p:nvSpPr>
          <p:cNvPr id="7" name="Shape 5"/>
          <p:cNvSpPr/>
          <p:nvPr/>
        </p:nvSpPr>
        <p:spPr>
          <a:xfrm>
            <a:off x="548640" y="2148840"/>
            <a:ext cx="11064240" cy="658368"/>
          </a:xfrm>
          <a:prstGeom prst="roundRect">
            <a:avLst>
              <a:gd name="adj" fmla="val 6944"/>
            </a:avLst>
          </a:prstGeom>
          <a:solidFill>
            <a:srgbClr val="2A3568"/>
          </a:solidFill>
          <a:ln/>
        </p:spPr>
      </p:sp>
      <p:sp>
        <p:nvSpPr>
          <p:cNvPr id="8" name="Text 6"/>
          <p:cNvSpPr/>
          <p:nvPr/>
        </p:nvSpPr>
        <p:spPr>
          <a:xfrm>
            <a:off x="777240" y="2148840"/>
            <a:ext cx="1965960" cy="65836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p>
        </p:txBody>
      </p:sp>
      <p:sp>
        <p:nvSpPr>
          <p:cNvPr id="9" name="Text 7"/>
          <p:cNvSpPr/>
          <p:nvPr/>
        </p:nvSpPr>
        <p:spPr>
          <a:xfrm>
            <a:off x="2834640" y="2148840"/>
            <a:ext cx="3931920" cy="658368"/>
          </a:xfrm>
          <a:prstGeom prst="rect">
            <a:avLst/>
          </a:prstGeom>
          <a:noFill/>
          <a:ln/>
        </p:spPr>
        <p:txBody>
          <a:bodyPr wrap="square" rtlCol="0" anchor="ctr"/>
          <a:lstStyle/>
          <a:p>
            <a:pPr indent="0" marL="0">
              <a:buNone/>
            </a:pPr>
            <a:r>
              <a:rPr lang="en-US" sz="1150" dirty="0">
                <a:solidFill>
                  <a:srgbClr val="B9C2D6"/>
                </a:solidFill>
                <a:latin typeface="Calibri" pitchFamily="34" charset="0"/>
                <a:ea typeface="Calibri" pitchFamily="34" charset="-122"/>
                <a:cs typeface="Calibri" pitchFamily="34" charset="-120"/>
              </a:rPr>
              <a:t>pandas reads a static CSV</a:t>
            </a:r>
            <a:endParaRPr lang="en-US" sz="1150" dirty="0"/>
          </a:p>
        </p:txBody>
      </p:sp>
      <p:sp>
        <p:nvSpPr>
          <p:cNvPr id="10" name="Text 8"/>
          <p:cNvSpPr/>
          <p:nvPr/>
        </p:nvSpPr>
        <p:spPr>
          <a:xfrm>
            <a:off x="6903720" y="2148840"/>
            <a:ext cx="4709160" cy="658368"/>
          </a:xfrm>
          <a:prstGeom prst="rect">
            <a:avLst/>
          </a:prstGeom>
          <a:noFill/>
          <a:ln/>
        </p:spPr>
        <p:txBody>
          <a:bodyPr wrap="square" rtlCol="0" anchor="ctr"/>
          <a:lstStyle/>
          <a:p>
            <a:pPr indent="0" marL="0">
              <a:buNone/>
            </a:pPr>
            <a:r>
              <a:rPr lang="en-US" sz="1150" dirty="0">
                <a:solidFill>
                  <a:srgbClr val="8FD8CB"/>
                </a:solidFill>
                <a:latin typeface="Calibri" pitchFamily="34" charset="0"/>
                <a:ea typeface="Calibri" pitchFamily="34" charset="-122"/>
                <a:cs typeface="Calibri" pitchFamily="34" charset="-120"/>
              </a:rPr>
              <a:t>CDC (Debezium) or the POS app streams events live</a:t>
            </a:r>
            <a:endParaRPr lang="en-US" sz="1150" dirty="0"/>
          </a:p>
        </p:txBody>
      </p:sp>
      <p:sp>
        <p:nvSpPr>
          <p:cNvPr id="11" name="Shape 9"/>
          <p:cNvSpPr/>
          <p:nvPr/>
        </p:nvSpPr>
        <p:spPr>
          <a:xfrm>
            <a:off x="548640" y="2898648"/>
            <a:ext cx="11064240" cy="658368"/>
          </a:xfrm>
          <a:prstGeom prst="roundRect">
            <a:avLst>
              <a:gd name="adj" fmla="val 6944"/>
            </a:avLst>
          </a:prstGeom>
          <a:solidFill>
            <a:srgbClr val="222C5C"/>
          </a:solidFill>
          <a:ln/>
        </p:spPr>
      </p:sp>
      <p:sp>
        <p:nvSpPr>
          <p:cNvPr id="12" name="Text 10"/>
          <p:cNvSpPr/>
          <p:nvPr/>
        </p:nvSpPr>
        <p:spPr>
          <a:xfrm>
            <a:off x="777240" y="2898648"/>
            <a:ext cx="1965960" cy="65836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Message format</a:t>
            </a:r>
            <a:endParaRPr lang="en-US" sz="1200" dirty="0"/>
          </a:p>
        </p:txBody>
      </p:sp>
      <p:sp>
        <p:nvSpPr>
          <p:cNvPr id="13" name="Text 11"/>
          <p:cNvSpPr/>
          <p:nvPr/>
        </p:nvSpPr>
        <p:spPr>
          <a:xfrm>
            <a:off x="2834640" y="2898648"/>
            <a:ext cx="3931920" cy="658368"/>
          </a:xfrm>
          <a:prstGeom prst="rect">
            <a:avLst/>
          </a:prstGeom>
          <a:noFill/>
          <a:ln/>
        </p:spPr>
        <p:txBody>
          <a:bodyPr wrap="square" rtlCol="0" anchor="ctr"/>
          <a:lstStyle/>
          <a:p>
            <a:pPr indent="0" marL="0">
              <a:buNone/>
            </a:pPr>
            <a:r>
              <a:rPr lang="en-US" sz="1150" dirty="0">
                <a:solidFill>
                  <a:srgbClr val="B9C2D6"/>
                </a:solidFill>
                <a:latin typeface="Calibri" pitchFamily="34" charset="0"/>
                <a:ea typeface="Calibri" pitchFamily="34" charset="-122"/>
                <a:cs typeface="Calibri" pitchFamily="34" charset="-120"/>
              </a:rPr>
              <a:t>Plain JSON</a:t>
            </a:r>
            <a:endParaRPr lang="en-US" sz="1150" dirty="0"/>
          </a:p>
        </p:txBody>
      </p:sp>
      <p:sp>
        <p:nvSpPr>
          <p:cNvPr id="14" name="Text 12"/>
          <p:cNvSpPr/>
          <p:nvPr/>
        </p:nvSpPr>
        <p:spPr>
          <a:xfrm>
            <a:off x="6903720" y="2898648"/>
            <a:ext cx="4709160" cy="658368"/>
          </a:xfrm>
          <a:prstGeom prst="rect">
            <a:avLst/>
          </a:prstGeom>
          <a:noFill/>
          <a:ln/>
        </p:spPr>
        <p:txBody>
          <a:bodyPr wrap="square" rtlCol="0" anchor="ctr"/>
          <a:lstStyle/>
          <a:p>
            <a:pPr indent="0" marL="0">
              <a:buNone/>
            </a:pPr>
            <a:r>
              <a:rPr lang="en-US" sz="1150" dirty="0">
                <a:solidFill>
                  <a:srgbClr val="8FD8CB"/>
                </a:solidFill>
                <a:latin typeface="Calibri" pitchFamily="34" charset="0"/>
                <a:ea typeface="Calibri" pitchFamily="34" charset="-122"/>
                <a:cs typeface="Calibri" pitchFamily="34" charset="-120"/>
              </a:rPr>
              <a:t>Avro/Protobuf + a Schema Registry that rejects breaking changes</a:t>
            </a:r>
            <a:endParaRPr lang="en-US" sz="1150" dirty="0"/>
          </a:p>
        </p:txBody>
      </p:sp>
      <p:sp>
        <p:nvSpPr>
          <p:cNvPr id="15" name="Shape 13"/>
          <p:cNvSpPr/>
          <p:nvPr/>
        </p:nvSpPr>
        <p:spPr>
          <a:xfrm>
            <a:off x="548640" y="3648456"/>
            <a:ext cx="11064240" cy="658368"/>
          </a:xfrm>
          <a:prstGeom prst="roundRect">
            <a:avLst>
              <a:gd name="adj" fmla="val 6944"/>
            </a:avLst>
          </a:prstGeom>
          <a:solidFill>
            <a:srgbClr val="2A3568"/>
          </a:solidFill>
          <a:ln/>
        </p:spPr>
      </p:sp>
      <p:sp>
        <p:nvSpPr>
          <p:cNvPr id="16" name="Text 14"/>
          <p:cNvSpPr/>
          <p:nvPr/>
        </p:nvSpPr>
        <p:spPr>
          <a:xfrm>
            <a:off x="777240" y="3648456"/>
            <a:ext cx="1965960" cy="65836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Kafka → Spark</a:t>
            </a:r>
            <a:endParaRPr lang="en-US" sz="1200" dirty="0"/>
          </a:p>
        </p:txBody>
      </p:sp>
      <p:sp>
        <p:nvSpPr>
          <p:cNvPr id="17" name="Text 15"/>
          <p:cNvSpPr/>
          <p:nvPr/>
        </p:nvSpPr>
        <p:spPr>
          <a:xfrm>
            <a:off x="2834640" y="3648456"/>
            <a:ext cx="3931920" cy="658368"/>
          </a:xfrm>
          <a:prstGeom prst="rect">
            <a:avLst/>
          </a:prstGeom>
          <a:noFill/>
          <a:ln/>
        </p:spPr>
        <p:txBody>
          <a:bodyPr wrap="square" rtlCol="0" anchor="ctr"/>
          <a:lstStyle/>
          <a:p>
            <a:pPr indent="0" marL="0">
              <a:buNone/>
            </a:pPr>
            <a:r>
              <a:rPr lang="en-US" sz="1150" dirty="0">
                <a:solidFill>
                  <a:srgbClr val="B9C2D6"/>
                </a:solidFill>
                <a:latin typeface="Calibri" pitchFamily="34" charset="0"/>
                <a:ea typeface="Calibri" pitchFamily="34" charset="-122"/>
                <a:cs typeface="Calibri" pitchFamily="34" charset="-120"/>
              </a:rPr>
              <a:t>Python list, single machine</a:t>
            </a:r>
            <a:endParaRPr lang="en-US" sz="1150" dirty="0"/>
          </a:p>
        </p:txBody>
      </p:sp>
      <p:sp>
        <p:nvSpPr>
          <p:cNvPr id="18" name="Text 16"/>
          <p:cNvSpPr/>
          <p:nvPr/>
        </p:nvSpPr>
        <p:spPr>
          <a:xfrm>
            <a:off x="6903720" y="3648456"/>
            <a:ext cx="4709160" cy="658368"/>
          </a:xfrm>
          <a:prstGeom prst="rect">
            <a:avLst/>
          </a:prstGeom>
          <a:noFill/>
          <a:ln/>
        </p:spPr>
        <p:txBody>
          <a:bodyPr wrap="square" rtlCol="0" anchor="ctr"/>
          <a:lstStyle/>
          <a:p>
            <a:pPr indent="0" marL="0">
              <a:buNone/>
            </a:pPr>
            <a:r>
              <a:rPr lang="en-US" sz="1150" dirty="0">
                <a:solidFill>
                  <a:srgbClr val="8FD8CB"/>
                </a:solidFill>
                <a:latin typeface="Calibri" pitchFamily="34" charset="0"/>
                <a:ea typeface="Calibri" pitchFamily="34" charset="-122"/>
                <a:cs typeface="Calibri" pitchFamily="34" charset="-120"/>
              </a:rPr>
              <a:t>Structured Streaming — parallel, checkpointed (also built here)</a:t>
            </a:r>
            <a:endParaRPr lang="en-US" sz="1150" dirty="0"/>
          </a:p>
        </p:txBody>
      </p:sp>
      <p:sp>
        <p:nvSpPr>
          <p:cNvPr id="19" name="Shape 17"/>
          <p:cNvSpPr/>
          <p:nvPr/>
        </p:nvSpPr>
        <p:spPr>
          <a:xfrm>
            <a:off x="548640" y="4398264"/>
            <a:ext cx="11064240" cy="658368"/>
          </a:xfrm>
          <a:prstGeom prst="roundRect">
            <a:avLst>
              <a:gd name="adj" fmla="val 6944"/>
            </a:avLst>
          </a:prstGeom>
          <a:solidFill>
            <a:srgbClr val="222C5C"/>
          </a:solidFill>
          <a:ln/>
        </p:spPr>
      </p:sp>
      <p:sp>
        <p:nvSpPr>
          <p:cNvPr id="20" name="Text 18"/>
          <p:cNvSpPr/>
          <p:nvPr/>
        </p:nvSpPr>
        <p:spPr>
          <a:xfrm>
            <a:off x="777240" y="4398264"/>
            <a:ext cx="1965960" cy="65836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Catalog</a:t>
            </a:r>
            <a:endParaRPr lang="en-US" sz="1200" dirty="0"/>
          </a:p>
        </p:txBody>
      </p:sp>
      <p:sp>
        <p:nvSpPr>
          <p:cNvPr id="21" name="Text 19"/>
          <p:cNvSpPr/>
          <p:nvPr/>
        </p:nvSpPr>
        <p:spPr>
          <a:xfrm>
            <a:off x="2834640" y="4398264"/>
            <a:ext cx="3931920" cy="658368"/>
          </a:xfrm>
          <a:prstGeom prst="rect">
            <a:avLst/>
          </a:prstGeom>
          <a:noFill/>
          <a:ln/>
        </p:spPr>
        <p:txBody>
          <a:bodyPr wrap="square" rtlCol="0" anchor="ctr"/>
          <a:lstStyle/>
          <a:p>
            <a:pPr indent="0" marL="0">
              <a:buNone/>
            </a:pPr>
            <a:r>
              <a:rPr lang="en-US" sz="1150" dirty="0">
                <a:solidFill>
                  <a:srgbClr val="B9C2D6"/>
                </a:solidFill>
                <a:latin typeface="Calibri" pitchFamily="34" charset="0"/>
                <a:ea typeface="Calibri" pitchFamily="34" charset="-122"/>
                <a:cs typeface="Calibri" pitchFamily="34" charset="-120"/>
              </a:rPr>
              <a:t>Hive Metastore + Parquet</a:t>
            </a:r>
            <a:endParaRPr lang="en-US" sz="1150" dirty="0"/>
          </a:p>
        </p:txBody>
      </p:sp>
      <p:sp>
        <p:nvSpPr>
          <p:cNvPr id="22" name="Text 20"/>
          <p:cNvSpPr/>
          <p:nvPr/>
        </p:nvSpPr>
        <p:spPr>
          <a:xfrm>
            <a:off x="6903720" y="4398264"/>
            <a:ext cx="4709160" cy="658368"/>
          </a:xfrm>
          <a:prstGeom prst="rect">
            <a:avLst/>
          </a:prstGeom>
          <a:noFill/>
          <a:ln/>
        </p:spPr>
        <p:txBody>
          <a:bodyPr wrap="square" rtlCol="0" anchor="ctr"/>
          <a:lstStyle/>
          <a:p>
            <a:pPr indent="0" marL="0">
              <a:buNone/>
            </a:pPr>
            <a:r>
              <a:rPr lang="en-US" sz="1150" dirty="0">
                <a:solidFill>
                  <a:srgbClr val="8FD8CB"/>
                </a:solidFill>
                <a:latin typeface="Calibri" pitchFamily="34" charset="0"/>
                <a:ea typeface="Calibri" pitchFamily="34" charset="-122"/>
                <a:cs typeface="Calibri" pitchFamily="34" charset="-120"/>
              </a:rPr>
              <a:t>Apache Iceberg / Delta Lake — adds transactions, time travel</a:t>
            </a:r>
            <a:endParaRPr lang="en-US" sz="1150" dirty="0"/>
          </a:p>
        </p:txBody>
      </p:sp>
      <p:sp>
        <p:nvSpPr>
          <p:cNvPr id="23" name="Shape 21"/>
          <p:cNvSpPr/>
          <p:nvPr/>
        </p:nvSpPr>
        <p:spPr>
          <a:xfrm>
            <a:off x="548640" y="5148072"/>
            <a:ext cx="11064240" cy="658368"/>
          </a:xfrm>
          <a:prstGeom prst="roundRect">
            <a:avLst>
              <a:gd name="adj" fmla="val 6944"/>
            </a:avLst>
          </a:prstGeom>
          <a:solidFill>
            <a:srgbClr val="2A3568"/>
          </a:solidFill>
          <a:ln/>
        </p:spPr>
      </p:sp>
      <p:sp>
        <p:nvSpPr>
          <p:cNvPr id="24" name="Text 22"/>
          <p:cNvSpPr/>
          <p:nvPr/>
        </p:nvSpPr>
        <p:spPr>
          <a:xfrm>
            <a:off x="777240" y="5148072"/>
            <a:ext cx="1965960" cy="65836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Orchestration</a:t>
            </a:r>
            <a:endParaRPr lang="en-US" sz="1200" dirty="0"/>
          </a:p>
        </p:txBody>
      </p:sp>
      <p:sp>
        <p:nvSpPr>
          <p:cNvPr id="25" name="Text 23"/>
          <p:cNvSpPr/>
          <p:nvPr/>
        </p:nvSpPr>
        <p:spPr>
          <a:xfrm>
            <a:off x="2834640" y="5148072"/>
            <a:ext cx="3931920" cy="658368"/>
          </a:xfrm>
          <a:prstGeom prst="rect">
            <a:avLst/>
          </a:prstGeom>
          <a:noFill/>
          <a:ln/>
        </p:spPr>
        <p:txBody>
          <a:bodyPr wrap="square" rtlCol="0" anchor="ctr"/>
          <a:lstStyle/>
          <a:p>
            <a:pPr indent="0" marL="0">
              <a:buNone/>
            </a:pPr>
            <a:r>
              <a:rPr lang="en-US" sz="1150" dirty="0">
                <a:solidFill>
                  <a:srgbClr val="B9C2D6"/>
                </a:solidFill>
                <a:latin typeface="Calibri" pitchFamily="34" charset="0"/>
                <a:ea typeface="Calibri" pitchFamily="34" charset="-122"/>
                <a:cs typeface="Calibri" pitchFamily="34" charset="-120"/>
              </a:rPr>
              <a:t>run_pipeline.sh</a:t>
            </a:r>
            <a:endParaRPr lang="en-US" sz="1150" dirty="0"/>
          </a:p>
        </p:txBody>
      </p:sp>
      <p:sp>
        <p:nvSpPr>
          <p:cNvPr id="26" name="Text 24"/>
          <p:cNvSpPr/>
          <p:nvPr/>
        </p:nvSpPr>
        <p:spPr>
          <a:xfrm>
            <a:off x="6903720" y="5148072"/>
            <a:ext cx="4709160" cy="658368"/>
          </a:xfrm>
          <a:prstGeom prst="rect">
            <a:avLst/>
          </a:prstGeom>
          <a:noFill/>
          <a:ln/>
        </p:spPr>
        <p:txBody>
          <a:bodyPr wrap="square" rtlCol="0" anchor="ctr"/>
          <a:lstStyle/>
          <a:p>
            <a:pPr indent="0" marL="0">
              <a:buNone/>
            </a:pPr>
            <a:r>
              <a:rPr lang="en-US" sz="1150" dirty="0">
                <a:solidFill>
                  <a:srgbClr val="8FD8CB"/>
                </a:solidFill>
                <a:latin typeface="Calibri" pitchFamily="34" charset="0"/>
                <a:ea typeface="Calibri" pitchFamily="34" charset="-122"/>
                <a:cs typeface="Calibri" pitchFamily="34" charset="-120"/>
              </a:rPr>
              <a:t>Airflow / Dagster — retries, backfills, SLA alerts</a:t>
            </a:r>
            <a:endParaRPr lang="en-US" sz="1150" dirty="0"/>
          </a:p>
        </p:txBody>
      </p:sp>
      <p:sp>
        <p:nvSpPr>
          <p:cNvPr id="27" name="Shape 25"/>
          <p:cNvSpPr/>
          <p:nvPr/>
        </p:nvSpPr>
        <p:spPr>
          <a:xfrm>
            <a:off x="548640" y="5897880"/>
            <a:ext cx="11064240" cy="658368"/>
          </a:xfrm>
          <a:prstGeom prst="roundRect">
            <a:avLst>
              <a:gd name="adj" fmla="val 6944"/>
            </a:avLst>
          </a:prstGeom>
          <a:solidFill>
            <a:srgbClr val="222C5C"/>
          </a:solidFill>
          <a:ln/>
        </p:spPr>
      </p:sp>
      <p:sp>
        <p:nvSpPr>
          <p:cNvPr id="28" name="Text 26"/>
          <p:cNvSpPr/>
          <p:nvPr/>
        </p:nvSpPr>
        <p:spPr>
          <a:xfrm>
            <a:off x="777240" y="5897880"/>
            <a:ext cx="1965960" cy="65836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Quality gates</a:t>
            </a:r>
            <a:endParaRPr lang="en-US" sz="1200" dirty="0"/>
          </a:p>
        </p:txBody>
      </p:sp>
      <p:sp>
        <p:nvSpPr>
          <p:cNvPr id="29" name="Text 27"/>
          <p:cNvSpPr/>
          <p:nvPr/>
        </p:nvSpPr>
        <p:spPr>
          <a:xfrm>
            <a:off x="2834640" y="5897880"/>
            <a:ext cx="3931920" cy="658368"/>
          </a:xfrm>
          <a:prstGeom prst="rect">
            <a:avLst/>
          </a:prstGeom>
          <a:noFill/>
          <a:ln/>
        </p:spPr>
        <p:txBody>
          <a:bodyPr wrap="square" rtlCol="0" anchor="ctr"/>
          <a:lstStyle/>
          <a:p>
            <a:pPr indent="0" marL="0">
              <a:buNone/>
            </a:pPr>
            <a:r>
              <a:rPr lang="en-US" sz="1150" dirty="0">
                <a:solidFill>
                  <a:srgbClr val="B9C2D6"/>
                </a:solidFill>
                <a:latin typeface="Calibri" pitchFamily="34" charset="0"/>
                <a:ea typeface="Calibri" pitchFamily="34" charset="-122"/>
                <a:cs typeface="Calibri" pitchFamily="34" charset="-120"/>
              </a:rPr>
              <a:t>Manual checks in code</a:t>
            </a:r>
            <a:endParaRPr lang="en-US" sz="1150" dirty="0"/>
          </a:p>
        </p:txBody>
      </p:sp>
      <p:sp>
        <p:nvSpPr>
          <p:cNvPr id="30" name="Text 28"/>
          <p:cNvSpPr/>
          <p:nvPr/>
        </p:nvSpPr>
        <p:spPr>
          <a:xfrm>
            <a:off x="6903720" y="5897880"/>
            <a:ext cx="4709160" cy="658368"/>
          </a:xfrm>
          <a:prstGeom prst="rect">
            <a:avLst/>
          </a:prstGeom>
          <a:noFill/>
          <a:ln/>
        </p:spPr>
        <p:txBody>
          <a:bodyPr wrap="square" rtlCol="0" anchor="ctr"/>
          <a:lstStyle/>
          <a:p>
            <a:pPr indent="0" marL="0">
              <a:buNone/>
            </a:pPr>
            <a:r>
              <a:rPr lang="en-US" sz="1150" dirty="0">
                <a:solidFill>
                  <a:srgbClr val="8FD8CB"/>
                </a:solidFill>
                <a:latin typeface="Calibri" pitchFamily="34" charset="0"/>
                <a:ea typeface="Calibri" pitchFamily="34" charset="-122"/>
                <a:cs typeface="Calibri" pitchFamily="34" charset="-120"/>
              </a:rPr>
              <a:t>Great Expectations / dbt tests — pipeline fails on bad data</a:t>
            </a:r>
            <a:endParaRPr lang="en-US" sz="1150" dirty="0"/>
          </a:p>
        </p:txBody>
      </p:sp>
      <p:sp>
        <p:nvSpPr>
          <p:cNvPr id="31" name="Text 29"/>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961120" y="3931920"/>
            <a:ext cx="4572000" cy="4572000"/>
          </a:xfrm>
          <a:prstGeom prst="ellipse">
            <a:avLst/>
          </a:prstGeom>
          <a:solidFill>
            <a:srgbClr val="1C7293">
              <a:alpha val="15000"/>
            </a:srgbClr>
          </a:solidFill>
          <a:ln/>
        </p:spPr>
      </p:sp>
      <p:sp>
        <p:nvSpPr>
          <p:cNvPr id="3" name="Shape 1"/>
          <p:cNvSpPr/>
          <p:nvPr/>
        </p:nvSpPr>
        <p:spPr>
          <a:xfrm>
            <a:off x="822960" y="1371600"/>
            <a:ext cx="777240" cy="777240"/>
          </a:xfrm>
          <a:prstGeom prst="ellipse">
            <a:avLst/>
          </a:prstGeom>
          <a:solidFill>
            <a:srgbClr val="2E3A73"/>
          </a:solidFill>
          <a:ln/>
        </p:spPr>
      </p:sp>
      <p:pic>
        <p:nvPicPr>
          <p:cNvPr id="4" name="Image 0" descr="preencoded.png">    </p:cNvPr>
          <p:cNvPicPr>
            <a:picLocks noChangeAspect="1"/>
          </p:cNvPicPr>
          <p:nvPr/>
        </p:nvPicPr>
        <p:blipFill>
          <a:blip r:embed="rId1"/>
          <a:stretch>
            <a:fillRect/>
          </a:stretch>
        </p:blipFill>
        <p:spPr>
          <a:xfrm>
            <a:off x="1025042" y="1573682"/>
            <a:ext cx="373075" cy="373075"/>
          </a:xfrm>
          <a:prstGeom prst="rect">
            <a:avLst/>
          </a:prstGeom>
        </p:spPr>
      </p:pic>
      <p:sp>
        <p:nvSpPr>
          <p:cNvPr id="5" name="Text 2"/>
          <p:cNvSpPr/>
          <p:nvPr/>
        </p:nvSpPr>
        <p:spPr>
          <a:xfrm>
            <a:off x="548640" y="2331720"/>
            <a:ext cx="9144000" cy="54864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Explore it yourself</a:t>
            </a:r>
            <a:endParaRPr lang="en-US" sz="3000" dirty="0"/>
          </a:p>
        </p:txBody>
      </p:sp>
      <p:sp>
        <p:nvSpPr>
          <p:cNvPr id="6" name="Text 3"/>
          <p:cNvSpPr/>
          <p:nvPr/>
        </p:nvSpPr>
        <p:spPr>
          <a:xfrm>
            <a:off x="548640" y="2971800"/>
            <a:ext cx="9144000" cy="457200"/>
          </a:xfrm>
          <a:prstGeom prst="rect">
            <a:avLst/>
          </a:prstGeom>
          <a:noFill/>
          <a:ln/>
        </p:spPr>
        <p:txBody>
          <a:bodyPr wrap="square" rtlCol="0" anchor="ctr"/>
          <a:lstStyle/>
          <a:p>
            <a:pPr indent="0" marL="0">
              <a:buNone/>
            </a:pPr>
            <a:r>
              <a:rPr lang="en-US" sz="1400" dirty="0">
                <a:solidFill>
                  <a:srgbClr val="C9D3E0"/>
                </a:solidFill>
                <a:latin typeface="Calibri" pitchFamily="34" charset="0"/>
                <a:ea typeface="Calibri" pitchFamily="34" charset="-122"/>
                <a:cs typeface="Calibri" pitchFamily="34" charset="-120"/>
              </a:rPr>
              <a:t>Every result in this deck came from running real code, sitting in these files:</a:t>
            </a:r>
            <a:endParaRPr lang="en-US" sz="1400" dirty="0"/>
          </a:p>
        </p:txBody>
      </p:sp>
      <p:sp>
        <p:nvSpPr>
          <p:cNvPr id="7" name="Text 4"/>
          <p:cNvSpPr/>
          <p:nvPr/>
        </p:nvSpPr>
        <p:spPr>
          <a:xfrm>
            <a:off x="548640" y="3611880"/>
            <a:ext cx="320040" cy="365760"/>
          </a:xfrm>
          <a:prstGeom prst="rect">
            <a:avLst/>
          </a:prstGeom>
          <a:noFill/>
          <a:ln/>
        </p:spPr>
        <p:txBody>
          <a:bodyPr wrap="square" rtlCol="0" anchor="ctr"/>
          <a:lstStyle/>
          <a:p>
            <a:pPr indent="0" marL="0">
              <a:buNone/>
            </a:pPr>
            <a:r>
              <a:rPr lang="en-US" sz="1500" b="1" dirty="0">
                <a:solidFill>
                  <a:srgbClr val="5FB1BF"/>
                </a:solidFill>
                <a:latin typeface="Calibri" pitchFamily="34" charset="0"/>
                <a:ea typeface="Calibri" pitchFamily="34" charset="-122"/>
                <a:cs typeface="Calibri" pitchFamily="34" charset="-120"/>
              </a:rPr>
              <a:t>›</a:t>
            </a:r>
            <a:endParaRPr lang="en-US" sz="1500" dirty="0"/>
          </a:p>
        </p:txBody>
      </p:sp>
      <p:sp>
        <p:nvSpPr>
          <p:cNvPr id="8" name="Text 5"/>
          <p:cNvSpPr/>
          <p:nvPr/>
        </p:nvSpPr>
        <p:spPr>
          <a:xfrm>
            <a:off x="914400" y="3611880"/>
            <a:ext cx="9601200" cy="365760"/>
          </a:xfrm>
          <a:prstGeom prst="rect">
            <a:avLst/>
          </a:prstGeom>
          <a:noFill/>
          <a:ln/>
        </p:spPr>
        <p:txBody>
          <a:bodyPr wrap="square" rtlCol="0" anchor="ctr"/>
          <a:lstStyle/>
          <a:p>
            <a:pPr indent="0" marL="0">
              <a:buNone/>
            </a:pPr>
            <a:r>
              <a:rPr lang="en-US" sz="1350" dirty="0">
                <a:solidFill>
                  <a:srgbClr val="D7DEEA"/>
                </a:solidFill>
                <a:latin typeface="Calibri" pitchFamily="34" charset="0"/>
                <a:ea typeface="Calibri" pitchFamily="34" charset="-122"/>
                <a:cs typeface="Calibri" pitchFamily="34" charset="-120"/>
              </a:rPr>
              <a:t>run_pipeline.sh — runs the whole thing end to end</a:t>
            </a:r>
            <a:endParaRPr lang="en-US" sz="1350" dirty="0"/>
          </a:p>
        </p:txBody>
      </p:sp>
      <p:sp>
        <p:nvSpPr>
          <p:cNvPr id="9" name="Text 6"/>
          <p:cNvSpPr/>
          <p:nvPr/>
        </p:nvSpPr>
        <p:spPr>
          <a:xfrm>
            <a:off x="548640" y="4050792"/>
            <a:ext cx="320040" cy="365760"/>
          </a:xfrm>
          <a:prstGeom prst="rect">
            <a:avLst/>
          </a:prstGeom>
          <a:noFill/>
          <a:ln/>
        </p:spPr>
        <p:txBody>
          <a:bodyPr wrap="square" rtlCol="0" anchor="ctr"/>
          <a:lstStyle/>
          <a:p>
            <a:pPr indent="0" marL="0">
              <a:buNone/>
            </a:pPr>
            <a:r>
              <a:rPr lang="en-US" sz="1500" b="1" dirty="0">
                <a:solidFill>
                  <a:srgbClr val="5FB1BF"/>
                </a:solidFill>
                <a:latin typeface="Calibri" pitchFamily="34" charset="0"/>
                <a:ea typeface="Calibri" pitchFamily="34" charset="-122"/>
                <a:cs typeface="Calibri" pitchFamily="34" charset="-120"/>
              </a:rPr>
              <a:t>›</a:t>
            </a:r>
            <a:endParaRPr lang="en-US" sz="1500" dirty="0"/>
          </a:p>
        </p:txBody>
      </p:sp>
      <p:sp>
        <p:nvSpPr>
          <p:cNvPr id="10" name="Text 7"/>
          <p:cNvSpPr/>
          <p:nvPr/>
        </p:nvSpPr>
        <p:spPr>
          <a:xfrm>
            <a:off x="914400" y="4050792"/>
            <a:ext cx="9601200" cy="365760"/>
          </a:xfrm>
          <a:prstGeom prst="rect">
            <a:avLst/>
          </a:prstGeom>
          <a:noFill/>
          <a:ln/>
        </p:spPr>
        <p:txBody>
          <a:bodyPr wrap="square" rtlCol="0" anchor="ctr"/>
          <a:lstStyle/>
          <a:p>
            <a:pPr indent="0" marL="0">
              <a:buNone/>
            </a:pPr>
            <a:r>
              <a:rPr lang="en-US" sz="1350" dirty="0">
                <a:solidFill>
                  <a:srgbClr val="D7DEEA"/>
                </a:solidFill>
                <a:latin typeface="Calibri" pitchFamily="34" charset="0"/>
                <a:ea typeface="Calibri" pitchFamily="34" charset="-122"/>
                <a:cs typeface="Calibri" pitchFamily="34" charset="-120"/>
              </a:rPr>
              <a:t>src/processing/03_analysis.py — all 12 business answers</a:t>
            </a:r>
            <a:endParaRPr lang="en-US" sz="1350" dirty="0"/>
          </a:p>
        </p:txBody>
      </p:sp>
      <p:sp>
        <p:nvSpPr>
          <p:cNvPr id="11" name="Text 8"/>
          <p:cNvSpPr/>
          <p:nvPr/>
        </p:nvSpPr>
        <p:spPr>
          <a:xfrm>
            <a:off x="548640" y="4489704"/>
            <a:ext cx="320040" cy="365760"/>
          </a:xfrm>
          <a:prstGeom prst="rect">
            <a:avLst/>
          </a:prstGeom>
          <a:noFill/>
          <a:ln/>
        </p:spPr>
        <p:txBody>
          <a:bodyPr wrap="square" rtlCol="0" anchor="ctr"/>
          <a:lstStyle/>
          <a:p>
            <a:pPr indent="0" marL="0">
              <a:buNone/>
            </a:pPr>
            <a:r>
              <a:rPr lang="en-US" sz="1500" b="1" dirty="0">
                <a:solidFill>
                  <a:srgbClr val="5FB1BF"/>
                </a:solidFill>
                <a:latin typeface="Calibri" pitchFamily="34" charset="0"/>
                <a:ea typeface="Calibri" pitchFamily="34" charset="-122"/>
                <a:cs typeface="Calibri" pitchFamily="34" charset="-120"/>
              </a:rPr>
              <a:t>›</a:t>
            </a:r>
            <a:endParaRPr lang="en-US" sz="1500" dirty="0"/>
          </a:p>
        </p:txBody>
      </p:sp>
      <p:sp>
        <p:nvSpPr>
          <p:cNvPr id="12" name="Text 9"/>
          <p:cNvSpPr/>
          <p:nvPr/>
        </p:nvSpPr>
        <p:spPr>
          <a:xfrm>
            <a:off x="914400" y="4489704"/>
            <a:ext cx="9601200" cy="365760"/>
          </a:xfrm>
          <a:prstGeom prst="rect">
            <a:avLst/>
          </a:prstGeom>
          <a:noFill/>
          <a:ln/>
        </p:spPr>
        <p:txBody>
          <a:bodyPr wrap="square" rtlCol="0" anchor="ctr"/>
          <a:lstStyle/>
          <a:p>
            <a:pPr indent="0" marL="0">
              <a:buNone/>
            </a:pPr>
            <a:r>
              <a:rPr lang="en-US" sz="1350" dirty="0">
                <a:solidFill>
                  <a:srgbClr val="D7DEEA"/>
                </a:solidFill>
                <a:latin typeface="Calibri" pitchFamily="34" charset="0"/>
                <a:ea typeface="Calibri" pitchFamily="34" charset="-122"/>
                <a:cs typeface="Calibri" pitchFamily="34" charset="-120"/>
              </a:rPr>
              <a:t>src/processing/query_hive.py — write your own SQL against the results</a:t>
            </a:r>
            <a:endParaRPr lang="en-US" sz="1350" dirty="0"/>
          </a:p>
        </p:txBody>
      </p:sp>
      <p:sp>
        <p:nvSpPr>
          <p:cNvPr id="13" name="Text 10"/>
          <p:cNvSpPr/>
          <p:nvPr/>
        </p:nvSpPr>
        <p:spPr>
          <a:xfrm>
            <a:off x="548640" y="4928616"/>
            <a:ext cx="320040" cy="365760"/>
          </a:xfrm>
          <a:prstGeom prst="rect">
            <a:avLst/>
          </a:prstGeom>
          <a:noFill/>
          <a:ln/>
        </p:spPr>
        <p:txBody>
          <a:bodyPr wrap="square" rtlCol="0" anchor="ctr"/>
          <a:lstStyle/>
          <a:p>
            <a:pPr indent="0" marL="0">
              <a:buNone/>
            </a:pPr>
            <a:r>
              <a:rPr lang="en-US" sz="1500" b="1" dirty="0">
                <a:solidFill>
                  <a:srgbClr val="5FB1BF"/>
                </a:solidFill>
                <a:latin typeface="Calibri" pitchFamily="34" charset="0"/>
                <a:ea typeface="Calibri" pitchFamily="34" charset="-122"/>
                <a:cs typeface="Calibri" pitchFamily="34" charset="-120"/>
              </a:rPr>
              <a:t>›</a:t>
            </a:r>
            <a:endParaRPr lang="en-US" sz="1500" dirty="0"/>
          </a:p>
        </p:txBody>
      </p:sp>
      <p:sp>
        <p:nvSpPr>
          <p:cNvPr id="14" name="Text 11"/>
          <p:cNvSpPr/>
          <p:nvPr/>
        </p:nvSpPr>
        <p:spPr>
          <a:xfrm>
            <a:off x="914400" y="4928616"/>
            <a:ext cx="9601200" cy="365760"/>
          </a:xfrm>
          <a:prstGeom prst="rect">
            <a:avLst/>
          </a:prstGeom>
          <a:noFill/>
          <a:ln/>
        </p:spPr>
        <p:txBody>
          <a:bodyPr wrap="square" rtlCol="0" anchor="ctr"/>
          <a:lstStyle/>
          <a:p>
            <a:pPr indent="0" marL="0">
              <a:buNone/>
            </a:pPr>
            <a:r>
              <a:rPr lang="en-US" sz="1350" dirty="0">
                <a:solidFill>
                  <a:srgbClr val="D7DEEA"/>
                </a:solidFill>
                <a:latin typeface="Calibri" pitchFamily="34" charset="0"/>
                <a:ea typeface="Calibri" pitchFamily="34" charset="-122"/>
                <a:cs typeface="Calibri" pitchFamily="34" charset="-120"/>
              </a:rPr>
              <a:t>README.md and notes/CONCEPTS.md — full write-up of every decision</a:t>
            </a:r>
            <a:endParaRPr lang="en-US" sz="1350" dirty="0"/>
          </a:p>
        </p:txBody>
      </p:sp>
      <p:sp>
        <p:nvSpPr>
          <p:cNvPr id="15" name="Text 12"/>
          <p:cNvSpPr/>
          <p:nvPr/>
        </p:nvSpPr>
        <p:spPr>
          <a:xfrm>
            <a:off x="548640" y="5852160"/>
            <a:ext cx="5486400" cy="457200"/>
          </a:xfrm>
          <a:prstGeom prst="rect">
            <a:avLst/>
          </a:prstGeom>
          <a:noFill/>
          <a:ln/>
        </p:spPr>
        <p:txBody>
          <a:bodyPr wrap="square" rtlCol="0" anchor="ctr"/>
          <a:lstStyle/>
          <a:p>
            <a:pPr indent="0" marL="0">
              <a:buNone/>
            </a:pPr>
            <a:r>
              <a:rPr lang="en-US" sz="1600" i="1" dirty="0">
                <a:solidFill>
                  <a:srgbClr val="8FD8CB"/>
                </a:solidFill>
                <a:latin typeface="Cambria" pitchFamily="34" charset="0"/>
                <a:ea typeface="Cambria" pitchFamily="34" charset="-122"/>
                <a:cs typeface="Cambria" pitchFamily="34" charset="-120"/>
              </a:rPr>
              <a:t>Thank you.</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2026-08-09T00:48:26Z</dcterms:created>
  <dcterms:modified xsi:type="dcterms:W3CDTF">2026-08-09T00:48:26Z</dcterms:modified>
</cp:coreProperties>
</file>